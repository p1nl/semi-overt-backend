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7e0cc204549ca" /><Relationship Type="http://schemas.openxmlformats.org/officeDocument/2006/relationships/extended-properties" Target="/docProps/app.xml" Id="R01bfd11ecc9f43d5" /><Relationship Type="http://schemas.openxmlformats.org/officeDocument/2006/relationships/officeDocument" Target="/ppt/presentation.xml" Id="R7c4d4b88a7b0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cd68ad189c4f56"/>
    <p:sldMasterId xmlns:r="http://schemas.openxmlformats.org/officeDocument/2006/relationships" id="2147483660" r:id="R4a07a808f9d44ec2"/>
  </p:sldMasterIdLst>
  <p:notesMasterIdLst>
    <p:notesMasterId xmlns:r="http://schemas.openxmlformats.org/officeDocument/2006/relationships" r:id="Raf0cd690294e468a"/>
  </p:notesMasterIdLst>
  <p:sldIdLst>
    <p:sldId xmlns:r="http://schemas.openxmlformats.org/officeDocument/2006/relationships" id="256" r:id="Rf12364fbf7214165"/>
    <p:sldId xmlns:r="http://schemas.openxmlformats.org/officeDocument/2006/relationships" id="257" r:id="R7a4ce7650dde4d54"/>
    <p:sldId xmlns:r="http://schemas.openxmlformats.org/officeDocument/2006/relationships" id="258" r:id="R43b115dd7fb24598"/>
    <p:sldId xmlns:r="http://schemas.openxmlformats.org/officeDocument/2006/relationships" id="259" r:id="R74cf28a03d234277"/>
    <p:sldId xmlns:r="http://schemas.openxmlformats.org/officeDocument/2006/relationships" id="260" r:id="R1afa2c20e4d74cd8"/>
    <p:sldId xmlns:r="http://schemas.openxmlformats.org/officeDocument/2006/relationships" id="261" r:id="R2ef9f569cfa24cf8"/>
    <p:sldId xmlns:r="http://schemas.openxmlformats.org/officeDocument/2006/relationships" id="262" r:id="R6ec1c7fdfe774dc8"/>
    <p:sldId xmlns:r="http://schemas.openxmlformats.org/officeDocument/2006/relationships" id="263" r:id="R2dc4164693824e25"/>
    <p:sldId xmlns:r="http://schemas.openxmlformats.org/officeDocument/2006/relationships" id="264" r:id="Rd1bcf3d2dbbc4d93"/>
    <p:sldId xmlns:r="http://schemas.openxmlformats.org/officeDocument/2006/relationships" id="265" r:id="Rfa41709e89b844bb"/>
    <p:sldId xmlns:r="http://schemas.openxmlformats.org/officeDocument/2006/relationships" id="266" r:id="R631d21b614fa4e6c"/>
    <p:sldId xmlns:r="http://schemas.openxmlformats.org/officeDocument/2006/relationships" id="267" r:id="R2b1a1dc312bc4107"/>
    <p:sldId xmlns:r="http://schemas.openxmlformats.org/officeDocument/2006/relationships" id="268" r:id="Rb42df435ccea4106"/>
    <p:sldId xmlns:r="http://schemas.openxmlformats.org/officeDocument/2006/relationships" id="269" r:id="R904763ed64de40e8"/>
    <p:sldId xmlns:r="http://schemas.openxmlformats.org/officeDocument/2006/relationships" id="270" r:id="R45cb1d0ed0bf416b"/>
    <p:sldId xmlns:r="http://schemas.openxmlformats.org/officeDocument/2006/relationships" id="271" r:id="Rb374c46829134f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35daa1857a4cc7" /><Relationship Type="http://schemas.openxmlformats.org/officeDocument/2006/relationships/slideMaster" Target="/ppt/slideMasters/slideMaster1.xml" Id="R0bcd68ad189c4f56" /><Relationship Type="http://schemas.openxmlformats.org/officeDocument/2006/relationships/slideMaster" Target="/ppt/slideMasters/slideMaster2.xml" Id="R4a07a808f9d44ec2" /><Relationship Type="http://schemas.openxmlformats.org/officeDocument/2006/relationships/notesMaster" Target="/ppt/notesMasters/notesMaster1.xml" Id="Raf0cd690294e468a" /><Relationship Type="http://schemas.openxmlformats.org/officeDocument/2006/relationships/presProps" Target="/ppt/presProps.xml" Id="R113504658a4c4c91" /><Relationship Type="http://schemas.openxmlformats.org/officeDocument/2006/relationships/viewProps" Target="/ppt/viewProps.xml" Id="Rb7c9168a9a9d44f4" /><Relationship Type="http://schemas.openxmlformats.org/officeDocument/2006/relationships/tableStyles" Target="/ppt/tableStyles.xml" Id="Rdd23bdb3cd1948e2" /><Relationship Type="http://schemas.openxmlformats.org/officeDocument/2006/relationships/slide" Target="/ppt/slides/slide1.xml" Id="Rf12364fbf7214165" /><Relationship Type="http://schemas.openxmlformats.org/officeDocument/2006/relationships/slide" Target="/ppt/slides/slide2.xml" Id="R7a4ce7650dde4d54" /><Relationship Type="http://schemas.openxmlformats.org/officeDocument/2006/relationships/slide" Target="/ppt/slides/slide3.xml" Id="R43b115dd7fb24598" /><Relationship Type="http://schemas.openxmlformats.org/officeDocument/2006/relationships/slide" Target="/ppt/slides/slide4.xml" Id="R74cf28a03d234277" /><Relationship Type="http://schemas.openxmlformats.org/officeDocument/2006/relationships/slide" Target="/ppt/slides/slide5.xml" Id="R1afa2c20e4d74cd8" /><Relationship Type="http://schemas.openxmlformats.org/officeDocument/2006/relationships/slide" Target="/ppt/slides/slide6.xml" Id="R2ef9f569cfa24cf8" /><Relationship Type="http://schemas.openxmlformats.org/officeDocument/2006/relationships/slide" Target="/ppt/slides/slide7.xml" Id="R6ec1c7fdfe774dc8" /><Relationship Type="http://schemas.openxmlformats.org/officeDocument/2006/relationships/slide" Target="/ppt/slides/slide8.xml" Id="R2dc4164693824e25" /><Relationship Type="http://schemas.openxmlformats.org/officeDocument/2006/relationships/slide" Target="/ppt/slides/slide9.xml" Id="Rd1bcf3d2dbbc4d93" /><Relationship Type="http://schemas.openxmlformats.org/officeDocument/2006/relationships/slide" Target="/ppt/slides/slide10.xml" Id="Rfa41709e89b844bb" /><Relationship Type="http://schemas.openxmlformats.org/officeDocument/2006/relationships/slide" Target="/ppt/slides/slide11.xml" Id="R631d21b614fa4e6c" /><Relationship Type="http://schemas.openxmlformats.org/officeDocument/2006/relationships/slide" Target="/ppt/slides/slide12.xml" Id="R2b1a1dc312bc4107" /><Relationship Type="http://schemas.openxmlformats.org/officeDocument/2006/relationships/slide" Target="/ppt/slides/slide13.xml" Id="Rb42df435ccea4106" /><Relationship Type="http://schemas.openxmlformats.org/officeDocument/2006/relationships/slide" Target="/ppt/slides/slide14.xml" Id="R904763ed64de40e8" /><Relationship Type="http://schemas.openxmlformats.org/officeDocument/2006/relationships/slide" Target="/ppt/slides/slide15.xml" Id="R45cb1d0ed0bf416b" /><Relationship Type="http://schemas.openxmlformats.org/officeDocument/2006/relationships/slide" Target="/ppt/slides/slide16.xml" Id="Rb374c4682913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61a1c741cee49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bb3d563e9c4853" /><Relationship Type="http://schemas.openxmlformats.org/officeDocument/2006/relationships/notesMaster" Target="/ppt/notesMasters/notesMaster1.xml" Id="R7062b012311f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a58da059c4c1c" /><Relationship Type="http://schemas.openxmlformats.org/officeDocument/2006/relationships/notesMaster" Target="/ppt/notesMasters/notesMaster1.xml" Id="Rfa59e81b6f8440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921523b0764359" /><Relationship Type="http://schemas.openxmlformats.org/officeDocument/2006/relationships/notesMaster" Target="/ppt/notesMasters/notesMaster1.xml" Id="Ra41d28822c3241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e39f413944571" /><Relationship Type="http://schemas.openxmlformats.org/officeDocument/2006/relationships/notesMaster" Target="/ppt/notesMasters/notesMaster1.xml" Id="R4ff06a1618d448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2190f4682d42c4" /><Relationship Type="http://schemas.openxmlformats.org/officeDocument/2006/relationships/notesMaster" Target="/ppt/notesMasters/notesMaster1.xml" Id="R92ec7af9c274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6a7d04f9b4f2b" /><Relationship Type="http://schemas.openxmlformats.org/officeDocument/2006/relationships/notesMaster" Target="/ppt/notesMasters/notesMaster1.xml" Id="Rcf5670ecbe2e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333431b884508" /><Relationship Type="http://schemas.openxmlformats.org/officeDocument/2006/relationships/notesMaster" Target="/ppt/notesMasters/notesMaster1.xml" Id="Re9c8489b9faa43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3ee6e0a8147f0" /><Relationship Type="http://schemas.openxmlformats.org/officeDocument/2006/relationships/notesMaster" Target="/ppt/notesMasters/notesMaster1.xml" Id="Rb749c8791e08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6e470399534614" /><Relationship Type="http://schemas.openxmlformats.org/officeDocument/2006/relationships/notesMaster" Target="/ppt/notesMasters/notesMaster1.xml" Id="R37037dc046f142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62043f054548fa" /><Relationship Type="http://schemas.openxmlformats.org/officeDocument/2006/relationships/notesMaster" Target="/ppt/notesMasters/notesMaster1.xml" Id="R4173ab4dc65d48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9b8acbd74f49db" /><Relationship Type="http://schemas.openxmlformats.org/officeDocument/2006/relationships/notesMaster" Target="/ppt/notesMasters/notesMaster1.xml" Id="Rd0a1e4b3a93748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e5e45617b64ff5" /><Relationship Type="http://schemas.openxmlformats.org/officeDocument/2006/relationships/notesMaster" Target="/ppt/notesMasters/notesMaster1.xml" Id="Rb88e38a3c93843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7088e1159144a4" /><Relationship Type="http://schemas.openxmlformats.org/officeDocument/2006/relationships/notesMaster" Target="/ppt/notesMasters/notesMaster1.xml" Id="Re2bfaa8853a743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714f2a6144462b" /><Relationship Type="http://schemas.openxmlformats.org/officeDocument/2006/relationships/notesMaster" Target="/ppt/notesMasters/notesMaster1.xml" Id="R5ed4eb7734c14c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b4e31f50c34479" /><Relationship Type="http://schemas.openxmlformats.org/officeDocument/2006/relationships/notesMaster" Target="/ppt/notesMasters/notesMaster1.xml" Id="R31c08df0b7c740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58616963ec49ff" /><Relationship Type="http://schemas.openxmlformats.org/officeDocument/2006/relationships/notesMaster" Target="/ppt/notesMasters/notesMaster1.xml" Id="Ra0393246f701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大家好，欢迎参加本次个人博客系统项目的演示。今天，我将向大家详细介绍这个项目的背景、设计理念、核心功能以及我们在技术上的创新点。这个项目不仅是一个功能完整的博客平台，更是我们对现代Web技术栈实践与探索的结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次演示将分为四个部分。首先，我们会探讨项目的背景，了解我们为什么要做这个系统。接着，将深入介绍我们的设计理念，包括架构思想和用户体验目标。然后，我会带大家全面了解系统的核心功能。最后，将重点展示我们在技术上的创新和亮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核心目标是打造一个完全自主可控的个人博客平台。正如大家在右侧看到的UI设计，我们追求的是一种简洁而富有质感的视觉体验。通过自建系统，作者可以真正拥有自己的内容和数据，实现从创作到阅读的全流程掌控，这对于技术总结和观点记录至关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具体来说，我们希望解决三个核心问题。第一，内容自主权问题，让创作者真正拥有自己的作品。第二，这是一个绝佳的技术实践机会，让我们能深入学习和应用当前主流的前后端技术。第三，也是一个关键的工程挑战，我们要解决网络不稳定或用户误操作导致的数据一致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设计核心思想主要有四点。首先是彻底的前后端分离架构，这让前后端团队可以并行开发，极大地提升了效率。其次，我们对用户角色进行了清晰的划分，保证了系统的安全性。第三，我们坚持聚焦核心功能，确保写作和阅读体验的极致。最后，我们非常注重工程化实践，为项目的未来发展打下坚实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在用户体验方面，我们设定了四个主要目标。正如大家在右侧看到的另一版UI设计，无论是深色还是浅色模式，我们都追求清晰、舒适的阅读体验。同时，后台管理要足够便捷，内容检索要足够高效，并且每一个操作都要有清晰的反馈，让用户始终掌控全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博客前台主要包含三大功能模块。首先是文章展示，用户可以浏览文章列表和详情。其次是分类与标签系统，帮助用户快速找到感兴趣的内容。最后是完整的用户功能，包括注册、登录和个人中心，为后续的互动功能打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博客前台主要包含三大功能模块。首先是文章展示，用户可以浏览文章列表和详情。其次是分类与标签系统，帮助用户快速找到感兴趣的内容。最后是完整的用户功能，包括注册、登录和个人中心，为后续的互动功能打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这一页是我们的功能演示预留区。在实际演示中，我们会在这里播放一段GIF动画，直观地展示文章从创作、发布到前台展示的完整流程，以及后台数据看板的实时效果，让大家对系统的实际操作有更直观的感受。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次项目的核心技术亮点，是我们基于策略模式与Redis实现的接口幂等性校验机制。简单来说，就是为每个写操作请求分配一个唯一的ID。服务端通过这个ID来判断请求是否已经处理过，从而避免了因网络抖动或用户重复点击导致的数据重复问题。这不仅保证了数据一致性，也极大地提升了用户体验和系统的健壮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我们的技术栈紧跟主流。后端采用最新的SpringBoot 3和Java 17，保证了性能和未来的兼容性。前端则使用Vue 3和TypeScript，实现了高效的组件化开发。数据库选用MySQL，缓存使用Redis。整个架构实现了彻底的前后端分离和无状态认证，为系统的横向扩展提供了可能。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我的演示到此结束。感谢大家的聆听。这个个人博客系统是我们技术热情与工程实践的结合，我们相信它不仅是一个产品，更是一个持续进化的技术平台。谢谢大家！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1cbc3176e40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010ebb53a43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95f0db9f241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d412e90ba48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a58fc9df741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c4e3f4e334b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e7d02871446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c2ec4a03646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3db7b1d914a4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5a1ccbf8640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10278a54343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d090573646453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6F0739D4-4AD1-478A-AB88-F7B7BBCAFA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C2D8EA26-72A6-44C4-881E-DB1BF2F91E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微软雅黑"/>
                <a:ea typeface="微软雅黑"/>
                <a:cs typeface="微软雅黑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E6B34F73-DF2D-4FDC-8CAF-7C1356B25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C59F7CA8-CF37-4063-8A13-3DBD9459B9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78A54B58-2E25-4BC9-BD8A-37E072A5F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AA8BCA36-FE8F-4B1F-9018-102B494C0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0CE7A010-4C88-43C0-9618-36F656F5BF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FDB4340-D33F-44E7-BDFA-2F1DCBCEA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661B514-DAC4-4174-AEF7-D41F0BA287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634CDDE3-529C-478D-A95E-D763DA263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E445C02-F714-4D2B-852E-2A87AD261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996F30B2-B9EC-410A-9E23-24B479FD3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D8ECF1A-B345-47FD-8EEA-B39F772823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80A2B61A-2ABB-4A41-89BA-D91C2F2E3F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5FA2BA3D-C560-4FF1-9E8A-27D4A1995C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1DA8606C-0CE5-4F7B-8090-7D18B0423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482DF01B-1962-4D2E-B0B9-85AC8158FE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EB828DD-6B43-4100-9B32-FEE965D72B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EC64E8B3-313D-4A25-9C2E-9BF9123281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BAE80B7F-ECC6-4E1C-AFA7-2257AA55B4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C3EA3F91-3020-436D-9160-79B1FF9DA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C070E0-EBD8-4383-BC63-BDF34A563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A7C75CD-AD58-41AD-987F-4A181F137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4F3A7FE-FE5A-4A23-B9A9-D41C4246CD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53C9FD2-9770-4333-B920-E1249D162F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752B2E0-5364-492B-89C2-F58D1D12D15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323AE5A-6CC6-42EF-A962-18DB0DDE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18F4265-1477-469F-B047-A2013B2EA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9B1DECF-329B-4218-964E-AA264EC00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02B4632F-E09B-40DB-A98B-FDFF43E87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EF70AEE7-CF2F-404F-A42C-29F8AA9EE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11881B84-38F9-46AE-A240-24E479FE7B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AA557F26-FB6E-4A3B-9A75-B917837D04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18614A69-97A7-40B3-B6D6-3E42D9DA74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3F2F8D57-B746-4504-A5ED-08BE7C9111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E455B416-1656-4091-8BA3-29E483EDF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42EBB5BB-7102-4CE3-9AE9-5F01BBC2D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8A13953C-44C3-4C67-A7C0-BD2669D06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微软雅黑"/>
                <a:ea typeface="微软雅黑"/>
                <a:cs typeface="微软雅黑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5E7FD6AB-F062-4D03-9E28-018F48E954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976EA793-BEC1-417E-8736-F4BE697ED0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E0574996-294C-472A-8BD5-09DA7E43F3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695DB020-D4E2-442F-9642-EB138BA98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66F8E0A0-A74E-4846-B917-5DC0228CF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C5F101E-80DB-453B-95D5-5D483D2DF4F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69E345B6-BF6B-4640-A56E-4646052AA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950E45F3-870A-4062-A2B5-DFA3BB8B69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1D88F0F5-E96D-4712-A801-5D32E8E37B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AE744C8F-01AF-4612-B092-6CA60F1FE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FEFFC12E-D1E7-43F9-9626-C0E98AE41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1C15F60-FE5A-4AA9-8E1C-CFD0F9889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0B3180D5-9263-4813-8716-F0D1F38A20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7CA27A6C-E71D-40C3-B1ED-5D6B6CB3BA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303D2783-E677-4E39-8C24-6C7F36BC2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94AE47DD-B33B-4CBE-9351-3521450E2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CD3FE4F6-E7D2-43C2-90EF-3BFFDE4E7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1934F33-EEDE-420E-8388-E6357D8E9D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9D84639-3C45-4622-89BA-EEF1D3684E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0F983753-51F9-43ED-8B94-A743182694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0a0e70839f545bd" /><Relationship Type="http://schemas.openxmlformats.org/officeDocument/2006/relationships/theme" Target="/ppt/slideMasters/theme/theme2.xml" Id="Red511611e5e944a8" /><Relationship Type="http://schemas.openxmlformats.org/officeDocument/2006/relationships/slideLayout" Target="/ppt/slideLayouts/slideLayout1.xml" Id="R984769d452f94e9b" /><Relationship Type="http://schemas.openxmlformats.org/officeDocument/2006/relationships/slideLayout" Target="/ppt/slideLayouts/slideLayout2.xml" Id="R7a0ef5d37ab640dd" /><Relationship Type="http://schemas.openxmlformats.org/officeDocument/2006/relationships/slideLayout" Target="/ppt/slideLayouts/slideLayout3.xml" Id="R097a0679ea5a4b1a" /><Relationship Type="http://schemas.openxmlformats.org/officeDocument/2006/relationships/slideLayout" Target="/ppt/slideLayouts/slideLayout4.xml" Id="R69ca437015484642" /><Relationship Type="http://schemas.openxmlformats.org/officeDocument/2006/relationships/slideLayout" Target="/ppt/slideLayouts/slideLayout5.xml" Id="R43d85ebdfd8f4a7b" /><Relationship Type="http://schemas.openxmlformats.org/officeDocument/2006/relationships/slideLayout" Target="/ppt/slideLayouts/slideLayout6.xml" Id="R84e03355ce6c427f" /><Relationship Type="http://schemas.openxmlformats.org/officeDocument/2006/relationships/slideLayout" Target="/ppt/slideLayouts/slideLayout7.xml" Id="R5ab92e1da33940cb" /><Relationship Type="http://schemas.openxmlformats.org/officeDocument/2006/relationships/slideLayout" Target="/ppt/slideLayouts/slideLayout8.xml" Id="R14e9b85468c64f83" /><Relationship Type="http://schemas.openxmlformats.org/officeDocument/2006/relationships/slideLayout" Target="/ppt/slideLayouts/slideLayout9.xml" Id="Rd14eb5cc06f94fd1" /><Relationship Type="http://schemas.openxmlformats.org/officeDocument/2006/relationships/slideLayout" Target="/ppt/slideLayouts/slideLayout10.xml" Id="Ra9252741080b481b" /><Relationship Type="http://schemas.openxmlformats.org/officeDocument/2006/relationships/slideLayout" Target="/ppt/slideLayouts/slideLayout11.xml" Id="Rd54c629789c247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8e4597cb9e4e45dc" /><Relationship Type="http://schemas.openxmlformats.org/officeDocument/2006/relationships/theme" Target="/ppt/slideMasters/theme/theme3.xml" Id="R13b27cd4ac374998" /><Relationship Type="http://schemas.openxmlformats.org/officeDocument/2006/relationships/slideLayout" Target="/ppt/slideLayouts/slideLayout12.xml" Id="R148921f2cb234f89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a0e70839f545bd">
            <a:lum/>
          </a:blip>
          <a:srcRect l="0" t="0" r="0" b="0"/>
          <a:stretch>
            <a:fillRect l="-7000" t="0" r="-700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80FC4D5D-F629-46C0-BAAD-A7ED1F5CE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850681B-2DA9-4D2F-BBC2-6C53BD61D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482C22F8-EAB3-40B8-A240-44E6AB2368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AC8A3ADB-0CAB-44EE-804D-FA119D37E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F8BFFEE-D1F5-482C-8062-8C6BCA95D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4769d452f94e9b"/>
    <p:sldLayoutId xmlns:r="http://schemas.openxmlformats.org/officeDocument/2006/relationships" id="2147483650" r:id="R7a0ef5d37ab640dd"/>
    <p:sldLayoutId xmlns:r="http://schemas.openxmlformats.org/officeDocument/2006/relationships" id="2147483651" r:id="R097a0679ea5a4b1a"/>
    <p:sldLayoutId xmlns:r="http://schemas.openxmlformats.org/officeDocument/2006/relationships" id="2147483652" r:id="R69ca437015484642"/>
    <p:sldLayoutId xmlns:r="http://schemas.openxmlformats.org/officeDocument/2006/relationships" id="2147483653" r:id="R43d85ebdfd8f4a7b"/>
    <p:sldLayoutId xmlns:r="http://schemas.openxmlformats.org/officeDocument/2006/relationships" id="2147483654" r:id="R84e03355ce6c427f"/>
    <p:sldLayoutId xmlns:r="http://schemas.openxmlformats.org/officeDocument/2006/relationships" id="2147483655" r:id="R5ab92e1da33940cb"/>
    <p:sldLayoutId xmlns:r="http://schemas.openxmlformats.org/officeDocument/2006/relationships" id="2147483656" r:id="R14e9b85468c64f83"/>
    <p:sldLayoutId xmlns:r="http://schemas.openxmlformats.org/officeDocument/2006/relationships" id="2147483657" r:id="Rd14eb5cc06f94fd1"/>
    <p:sldLayoutId xmlns:r="http://schemas.openxmlformats.org/officeDocument/2006/relationships" id="2147483658" r:id="Ra9252741080b481b"/>
    <p:sldLayoutId xmlns:r="http://schemas.openxmlformats.org/officeDocument/2006/relationships" id="2147483659" r:id="Rd54c629789c2475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4597cb9e4e45dc">
            <a:lum/>
          </a:blip>
          <a:srcRect l="0" t="0" r="0" b="0"/>
          <a:stretch>
            <a:fillRect l="-7000" t="0" r="-700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48921f2cb234f8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a8300777a384494" /><Relationship Type="http://schemas.openxmlformats.org/officeDocument/2006/relationships/image" Target="/ppt/media/image2.png" Id="Rbc367055550c426a" /><Relationship Type="http://schemas.openxmlformats.org/officeDocument/2006/relationships/notesSlide" Target="/ppt/notesSlides/notesSlide1.xml" Id="Rd5b10abf1610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988999cb5d4642" /><Relationship Type="http://schemas.openxmlformats.org/officeDocument/2006/relationships/notesSlide" Target="/ppt/notesSlides/notesSlide2.xml" Id="Rd8c4774ae1b54d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2af85a9a834621" /><Relationship Type="http://schemas.openxmlformats.org/officeDocument/2006/relationships/notesSlide" Target="/ppt/notesSlides/notesSlide3.xml" Id="Rd49aee98d128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3498515c4c47c0" /><Relationship Type="http://schemas.openxmlformats.org/officeDocument/2006/relationships/image" Target="/ppt/media/image3.png" Id="R8c8c11b844f04902" /><Relationship Type="http://schemas.openxmlformats.org/officeDocument/2006/relationships/notesSlide" Target="/ppt/notesSlides/notesSlide4.xml" Id="R794c3741ccdb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780b2956144643" /><Relationship Type="http://schemas.openxmlformats.org/officeDocument/2006/relationships/image" Target="/ppt/media/image4.png" Id="R674c1dd106cd470d" /><Relationship Type="http://schemas.openxmlformats.org/officeDocument/2006/relationships/image" Target="/ppt/media/image.svg" Id="Rd61efdf9b3ca4876" /><Relationship Type="http://schemas.openxmlformats.org/officeDocument/2006/relationships/image" Target="/ppt/media/image5.png" Id="Rcb8cebcb95174074" /><Relationship Type="http://schemas.openxmlformats.org/officeDocument/2006/relationships/image" Target="/ppt/media/image2.svg" Id="R4fa11dc7e4df4848" /><Relationship Type="http://schemas.openxmlformats.org/officeDocument/2006/relationships/image" Target="/ppt/media/image6.png" Id="Re63af3b7c5a44172" /><Relationship Type="http://schemas.openxmlformats.org/officeDocument/2006/relationships/image" Target="/ppt/media/image3.svg" Id="Rdcc9cf098eec4592" /><Relationship Type="http://schemas.openxmlformats.org/officeDocument/2006/relationships/notesSlide" Target="/ppt/notesSlides/notesSlide5.xml" Id="R097b2a55a394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3bf58239c04e15" /><Relationship Type="http://schemas.openxmlformats.org/officeDocument/2006/relationships/notesSlide" Target="/ppt/notesSlides/notesSlide6.xml" Id="R849a3921a1994c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fb16ff802c4013" /><Relationship Type="http://schemas.openxmlformats.org/officeDocument/2006/relationships/image" Target="/ppt/media/image.jpeg" Id="Rfc7ed9e746ea4c93" /><Relationship Type="http://schemas.openxmlformats.org/officeDocument/2006/relationships/notesSlide" Target="/ppt/notesSlides/notesSlide7.xml" Id="R5191e56fecc544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3a8d1e1f934a68" /><Relationship Type="http://schemas.openxmlformats.org/officeDocument/2006/relationships/notesSlide" Target="/ppt/notesSlides/notesSlide8.xml" Id="Rd7a1a7f3138446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8b7c8d82bf4804" /><Relationship Type="http://schemas.openxmlformats.org/officeDocument/2006/relationships/notesSlide" Target="/ppt/notesSlides/notesSlide9.xml" Id="Re65b2bb7aa3d43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58bc1fcae04152" /><Relationship Type="http://schemas.openxmlformats.org/officeDocument/2006/relationships/image" Target="/ppt/media/image7.png" Id="Rb583279144ae487b" /><Relationship Type="http://schemas.openxmlformats.org/officeDocument/2006/relationships/image" Target="/ppt/media/image8.png" Id="R9b5afca0914d4162" /><Relationship Type="http://schemas.openxmlformats.org/officeDocument/2006/relationships/image" Target="/ppt/media/image9.png" Id="Re414617d73274717" /><Relationship Type="http://schemas.openxmlformats.org/officeDocument/2006/relationships/notesSlide" Target="/ppt/notesSlides/notesSlide10.xml" Id="R8b350dfc15ae45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f25cce4fcc465e" /><Relationship Type="http://schemas.openxmlformats.org/officeDocument/2006/relationships/image" Target="/ppt/media/image10.png" Id="Rfd63d974117943f2" /><Relationship Type="http://schemas.openxmlformats.org/officeDocument/2006/relationships/image" Target="/ppt/media/image11.png" Id="Rfd27343cbb184991" /><Relationship Type="http://schemas.openxmlformats.org/officeDocument/2006/relationships/image" Target="/ppt/media/image12.png" Id="Rdf5b8ee0c51f4af6" /><Relationship Type="http://schemas.openxmlformats.org/officeDocument/2006/relationships/notesSlide" Target="/ppt/notesSlides/notesSlide11.xml" Id="Rcc54ec8a489c4b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5c2bdd1c7c4636" /><Relationship Type="http://schemas.openxmlformats.org/officeDocument/2006/relationships/image" Target="/ppt/media/image.gif" Id="R0050088a4d5e4f08" /><Relationship Type="http://schemas.openxmlformats.org/officeDocument/2006/relationships/notesSlide" Target="/ppt/notesSlides/notesSlide12.xml" Id="Rdf552bbd465343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b20f8783f5447b" /><Relationship Type="http://schemas.openxmlformats.org/officeDocument/2006/relationships/notesSlide" Target="/ppt/notesSlides/notesSlide13.xml" Id="R79a6338c55f74b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3b58ace3214edd" /><Relationship Type="http://schemas.openxmlformats.org/officeDocument/2006/relationships/notesSlide" Target="/ppt/notesSlides/notesSlide14.xml" Id="R305dee4a354c41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5fa3b0b2884a19" /><Relationship Type="http://schemas.openxmlformats.org/officeDocument/2006/relationships/image" Target="/ppt/media/image13.png" Id="Ref26e9e53097457a" /><Relationship Type="http://schemas.openxmlformats.org/officeDocument/2006/relationships/image" Target="/ppt/media/image14.png" Id="R4b60358208f64bb8" /><Relationship Type="http://schemas.openxmlformats.org/officeDocument/2006/relationships/image" Target="/ppt/media/image15.png" Id="R19392a05f8c94de6" /><Relationship Type="http://schemas.openxmlformats.org/officeDocument/2006/relationships/image" Target="/ppt/media/image16.png" Id="R287325f6db004031" /><Relationship Type="http://schemas.openxmlformats.org/officeDocument/2006/relationships/image" Target="/ppt/media/image17.png" Id="R5cb5927436984358" /><Relationship Type="http://schemas.openxmlformats.org/officeDocument/2006/relationships/image" Target="/ppt/media/image18.png" Id="Re15bb61b17434139" /><Relationship Type="http://schemas.openxmlformats.org/officeDocument/2006/relationships/image" Target="/ppt/media/image19.png" Id="Rc2902498a78b4662" /><Relationship Type="http://schemas.openxmlformats.org/officeDocument/2006/relationships/image" Target="/ppt/media/image20.png" Id="Re0916c7a5e5042b0" /><Relationship Type="http://schemas.openxmlformats.org/officeDocument/2006/relationships/notesSlide" Target="/ppt/notesSlides/notesSlide15.xml" Id="Rd42fb304d89548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551027e7c04b17" /><Relationship Type="http://schemas.openxmlformats.org/officeDocument/2006/relationships/image" Target="/ppt/media/image21.png" Id="R4738e1fa8c184437" /><Relationship Type="http://schemas.openxmlformats.org/officeDocument/2006/relationships/image" Target="/ppt/media/image22.png" Id="R4f91da403c404295" /><Relationship Type="http://schemas.openxmlformats.org/officeDocument/2006/relationships/image" Target="/ppt/media/image4.svg" Id="Re5614f200e46469d" /><Relationship Type="http://schemas.openxmlformats.org/officeDocument/2006/relationships/image" Target="/ppt/media/image23.png" Id="R3511e53c3dde4a7f" /><Relationship Type="http://schemas.openxmlformats.org/officeDocument/2006/relationships/image" Target="/ppt/media/image5.svg" Id="Rb2c8e0e45cd64e9e" /><Relationship Type="http://schemas.openxmlformats.org/officeDocument/2006/relationships/image" Target="/ppt/media/image24.png" Id="R75d806a1d0b14a6c" /><Relationship Type="http://schemas.openxmlformats.org/officeDocument/2006/relationships/image" Target="/ppt/media/image6.svg" Id="R55215feac66542be" /><Relationship Type="http://schemas.openxmlformats.org/officeDocument/2006/relationships/image" Target="/ppt/media/image25.png" Id="R3243844e02e748a8" /><Relationship Type="http://schemas.openxmlformats.org/officeDocument/2006/relationships/image" Target="/ppt/media/image7.svg" Id="R6985015ec584425f" /><Relationship Type="http://schemas.openxmlformats.org/officeDocument/2006/relationships/image" Target="/ppt/media/image26.png" Id="R0065296f45cc4893" /><Relationship Type="http://schemas.openxmlformats.org/officeDocument/2006/relationships/image" Target="/ppt/media/image8.svg" Id="Rea1f203594fa44da" /><Relationship Type="http://schemas.openxmlformats.org/officeDocument/2006/relationships/image" Target="/ppt/media/image27.png" Id="Re1f73221aea545d3" /><Relationship Type="http://schemas.openxmlformats.org/officeDocument/2006/relationships/image" Target="/ppt/media/image9.svg" Id="R402570c9167e4642" /><Relationship Type="http://schemas.openxmlformats.org/officeDocument/2006/relationships/image" Target="/ppt/media/image28.png" Id="R57dd7fe02e014318" /><Relationship Type="http://schemas.openxmlformats.org/officeDocument/2006/relationships/image" Target="/ppt/media/image10.svg" Id="Rb003a883b1b444f5" /><Relationship Type="http://schemas.openxmlformats.org/officeDocument/2006/relationships/image" Target="/ppt/media/image29.png" Id="Rffb6528898cf45d6" /><Relationship Type="http://schemas.openxmlformats.org/officeDocument/2006/relationships/image" Target="/ppt/media/image11.svg" Id="R53e975c4874242f6" /><Relationship Type="http://schemas.openxmlformats.org/officeDocument/2006/relationships/image" Target="/ppt/media/image30.png" Id="R895bb625825a4ca2" /><Relationship Type="http://schemas.openxmlformats.org/officeDocument/2006/relationships/image" Target="/ppt/media/image12.svg" Id="Rb2d511b68dc14a04" /><Relationship Type="http://schemas.openxmlformats.org/officeDocument/2006/relationships/image" Target="/ppt/media/image31.png" Id="R465cf1b90f3d4aff" /><Relationship Type="http://schemas.openxmlformats.org/officeDocument/2006/relationships/image" Target="/ppt/media/image13.svg" Id="R8da8f63f1bc54a6d" /><Relationship Type="http://schemas.openxmlformats.org/officeDocument/2006/relationships/image" Target="/ppt/media/image32.png" Id="R231a2dbb9c7c4317" /><Relationship Type="http://schemas.openxmlformats.org/officeDocument/2006/relationships/image" Target="/ppt/media/image14.svg" Id="R3de2ebb147c244fc" /><Relationship Type="http://schemas.openxmlformats.org/officeDocument/2006/relationships/image" Target="/ppt/media/image33.png" Id="Rbd76dc33b58844aa" /><Relationship Type="http://schemas.openxmlformats.org/officeDocument/2006/relationships/image" Target="/ppt/media/image15.svg" Id="R623b59ed4eaa4308" /><Relationship Type="http://schemas.openxmlformats.org/officeDocument/2006/relationships/image" Target="/ppt/media/image34.png" Id="R686c49066ed54a84" /><Relationship Type="http://schemas.openxmlformats.org/officeDocument/2006/relationships/image" Target="/ppt/media/image35.png" Id="R7ca8bd15cc8b48af" /><Relationship Type="http://schemas.openxmlformats.org/officeDocument/2006/relationships/image" Target="/ppt/media/image36.png" Id="Rf26bd7e19da749e0" /><Relationship Type="http://schemas.openxmlformats.org/officeDocument/2006/relationships/image" Target="/ppt/media/image37.png" Id="Ra9c7a8be0ff34ca5" /><Relationship Type="http://schemas.openxmlformats.org/officeDocument/2006/relationships/image" Target="/ppt/media/image38.png" Id="R7d67d04440b64a93" /><Relationship Type="http://schemas.openxmlformats.org/officeDocument/2006/relationships/image" Target="/ppt/media/image39.png" Id="R92534c14e2794aa7" /><Relationship Type="http://schemas.openxmlformats.org/officeDocument/2006/relationships/image" Target="/ppt/media/image40.png" Id="R14daec6e476e4491" /><Relationship Type="http://schemas.openxmlformats.org/officeDocument/2006/relationships/image" Target="/ppt/media/image41.png" Id="R2cccab21eec24761" /><Relationship Type="http://schemas.openxmlformats.org/officeDocument/2006/relationships/image" Target="/ppt/media/image42.png" Id="R4f558ff0b6d24e3c" /><Relationship Type="http://schemas.openxmlformats.org/officeDocument/2006/relationships/image" Target="/ppt/media/image16.svg" Id="R189daa630fee4746" /><Relationship Type="http://schemas.openxmlformats.org/officeDocument/2006/relationships/notesSlide" Target="/ppt/notesSlides/notesSlide16.xml" Id="R2380a5ece33845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9B8D723-59AE-4007-BE14-06C00C16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5150"/>
            <a:ext cx="7072671" cy="295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基于 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SpringBoot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与前后端分离架构的个人博客系统</a:t>
            </a:r>
          </a:p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4624549-B06F-4A44-AE10-2E043DA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4800"/>
            <a:ext cx="6350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D08841-7DDA-48F5-9283-250B0A1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68" y="3137400"/>
            <a:ext cx="66040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6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      </a:t>
            </a:r>
            <a:r>
              <a:rPr sz="1600" b="0" i="0" u="none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基于现代Web技术栈构建的轻量级、高性能博客平台，融合前后端分离架构与响应式设计。深度集成Markdown编辑、用户权限管理与动态内容渲染，打造安全、可扩展且极具交互性的个人创作空间。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90E475-91E8-4263-BB2D-3B41014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77" y="4931092"/>
            <a:ext cx="4064000" cy="3067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latin typeface="微软雅黑"/>
                <a:ea typeface="微软雅黑"/>
                <a:cs typeface="微软雅黑"/>
              </a:rPr>
              <a:t>组长：江建宇</a:t>
            </a:r>
            <a:r>
              <a:rPr>
                <a:latin typeface="微软雅黑"/>
                <a:ea typeface="微软雅黑"/>
                <a:cs typeface="微软雅黑"/>
              </a:rPr>
              <a:t>  </a:t>
            </a:r>
            <a:r>
              <a:rPr>
                <a:latin typeface="微软雅黑"/>
                <a:ea typeface="微软雅黑"/>
                <a:cs typeface="微软雅黑"/>
              </a:rPr>
              <a:t>组员：陈泉材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董沈武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程坤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范文涛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9013F92-66C9-47A7-999A-6BBE39F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1295"/>
            <a:ext cx="1595755" cy="3067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latin typeface="微软雅黑"/>
                <a:ea typeface="微软雅黑"/>
                <a:cs typeface="微软雅黑"/>
              </a:rPr>
              <a:t>时间：</a:t>
            </a:r>
            <a:r>
              <a:rPr>
                <a:latin typeface="微软雅黑"/>
                <a:ea typeface="微软雅黑"/>
                <a:cs typeface="微软雅黑"/>
              </a:rPr>
              <a:t>2026.9.13</a:t>
            </a:r>
          </a:p>
        </p:txBody>
      </p:sp>
      <p:pic>
        <p:nvPicPr>
          <p:cNvPr id="1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67055550c426a"/>
          <a:srcRect xmlns:a="http://schemas.openxmlformats.org/drawingml/2006/main" l="0" t="0" r="5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4171" y="1352145"/>
            <a:ext cx="4298005" cy="4562272"/>
          </a:xfrm>
          <a:prstGeom xmlns:a="http://schemas.openxmlformats.org/drawingml/2006/main" prst="cloud">
            <a:avLst/>
          </a:prstGeom>
        </p:spPr>
      </p:pic>
    </p:spTree>
    <p:extLst>
      <p:ext uri="{BB962C8B-B14F-4D97-AF65-F5344CB8AC3E}">
        <p14:creationId xmlns:p14="http://schemas.microsoft.com/office/powerpoint/2010/main" val="12134268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495E7D4-B748-4A8D-BE71-3999F83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97" y="2720975"/>
            <a:ext cx="3175000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43E4A11-BBE8-411C-A6E0-4F2499A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8034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3200" b="0" i="0" u="none">
              <a:solidFill>
                <a:srgbClr val="2B2F36">
                  <a:alpha val="69804"/>
                </a:srgbClr>
              </a:solidFill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5F68287-10FF-429E-B0BE-44DFD68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453" y="1289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075ED48-74B6-41FB-A978-BAADAFD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72" y="1383287"/>
            <a:ext cx="1227455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2FABC5C-4CF8-493E-9B91-6DA872F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955" y="1350078"/>
            <a:ext cx="4191000" cy="626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b="1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目标</a:t>
            </a: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、意义与要解决的问题，明确系统建设的初衷与价值</a:t>
            </a: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592953C-0041-4CF0-8C31-A6F2C49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638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C4A13DC-B3CE-413D-8215-7EF250E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603500"/>
            <a:ext cx="122682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设计理念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8B3CA8D-87E5-4001-BC55-56C8C1B6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700" y="2589781"/>
            <a:ext cx="4191000" cy="593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l">
              <a:lnSpc>
                <a:spcPct val="125000"/>
              </a:lnSpc>
              <a:buSzTx/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阐述系统设计的核心思想，以及为用户打造的极致体验与交互目标</a:t>
            </a: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 b="1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BF23EF6-E642-4D2A-BCF4-13D2B66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1" y="36258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605EE8-4C94-4FB2-9790-AE93965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705" y="3765685"/>
            <a:ext cx="1701257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核心功能全景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0A9FD59-4A1E-40C5-B223-663EE22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742" y="3738062"/>
            <a:ext cx="4191000" cy="6013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全面解析博客前台展示与后台管理的核心功能模块，呈现完整业务闭环</a:t>
            </a: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B31AA57-0487-4538-8750-1F152476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79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2A64EE2-3557-4982-9004-B037485B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940300"/>
            <a:ext cx="1226185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技术创新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9DFBDD0-F62C-4ED9-B911-10D31607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700" y="4953000"/>
            <a:ext cx="41910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l">
              <a:lnSpc>
                <a:spcPct val="125000"/>
              </a:lnSpc>
              <a:buSzTx/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深入剖析系统的关键技术栈选型，展示架构设计与实现的核心技术亮点。</a:t>
            </a:r>
            <a:endParaRPr sz="1400" b="1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1764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BF374F4-68EA-4479-AE03-42C44AD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E8201FC-161F-4D20-81FA-6F4B7439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1824235-A633-4D7F-A6C5-73F3DB54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3810000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项目目标、意义与要解决的问题</a:t>
            </a:r>
          </a:p>
        </p:txBody>
      </p:sp>
    </p:spTree>
    <p:extLst>
      <p:ext uri="{BB962C8B-B14F-4D97-AF65-F5344CB8AC3E}">
        <p14:creationId xmlns:p14="http://schemas.microsoft.com/office/powerpoint/2010/main" val="1847146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54D9309-F4AC-405C-858F-D1505297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6" y="3057457"/>
            <a:ext cx="5016500" cy="2367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just">
              <a:lnSpc>
                <a:spcPct val="125000"/>
              </a:lnSpc>
              <a:buNone/>
            </a:pPr>
            <a:r>
              <a:rPr sz="1600" b="0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       自建博客系统能够让作者完全掌控内容、样式与数据，摆脱第三方平台的制约。本项目旨在开发一个功能完整、架构现代的个人博客系统，实现从内容创作、发布管理到用户阅读、检索的完整闭环，为创作者打造真正属于自己的内容阵地。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7A5ED2D-38CE-4487-9C37-6F4E81D6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83" y="2110632"/>
            <a:ext cx="3431162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latin typeface="微软雅黑"/>
                <a:ea typeface="微软雅黑"/>
                <a:cs typeface="微软雅黑"/>
              </a:rPr>
              <a:t>项目</a:t>
            </a:r>
            <a:endParaRPr sz="4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latin typeface="微软雅黑"/>
                <a:ea typeface="微软雅黑"/>
                <a:cs typeface="微软雅黑"/>
              </a:rPr>
              <a:t>目标与意义</a:t>
            </a:r>
            <a:endParaRPr sz="4800" b="1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8c11b844f049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6720" y="1660477"/>
            <a:ext cx="3543706" cy="3537045"/>
          </a:xfrm>
          <a:prstGeom xmlns:a="http://schemas.openxmlformats.org/drawingml/2006/main" prst="bevel">
            <a:avLst/>
          </a:prstGeom>
        </p:spPr>
      </p:pic>
    </p:spTree>
    <p:extLst>
      <p:ext uri="{BB962C8B-B14F-4D97-AF65-F5344CB8AC3E}">
        <p14:creationId xmlns:p14="http://schemas.microsoft.com/office/powerpoint/2010/main" val="77522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12D251-47AE-4486-9F7D-A9681DC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核心问题聚焦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3B15ED-9531-4C9B-AEC9-EF64236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0358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0" i="0" u="none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针对当前内容发布受限、技术应用浅层化及数据异常等痛点，我们从自主掌控、技术深耕与数据保障三个维度出发，构建稳定可靠的解决方案。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F489194-7D43-4704-8D64-35BC862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c1dd106cd470d">
            <a:extLst>
              <a:ext uri="{96DAC541-7B7A-43D3-8B79-37D633B846F1}">
                <asvg:svgBlip xmlns:asvg="http://schemas.microsoft.com/office/drawing/2016/SVG/main" r:embed="Rd61efdf9b3ca48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701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4AAAFAB-B49D-4D8E-B0DB-EA8296B0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01 内容自主权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C8D2046-4139-462B-A0BD-48BB5EF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10655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摆脱第三方平台限制，实现对内容发布、样式设计与数据资产的完全掌控，重塑创作者的内容主导权。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DBDDA44-C227-4A0B-B6EC-1240988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cebcb95174074">
            <a:extLst>
              <a:ext uri="{96DAC541-7B7A-43D3-8B79-37D633B846F1}">
                <asvg:svgBlip xmlns:asvg="http://schemas.microsoft.com/office/drawing/2016/SVG/main" r:embed="R4fa11dc7e4df48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1447DBF-66C1-4C00-8E6F-78BBBFBB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02 技术实践深化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6FC48E1-A202-4AE2-BE0F-CCC8AC07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10648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ctr">
              <a:lnSpc>
                <a:spcPct val="100000"/>
              </a:lnSpc>
              <a:buSzTx/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搭建完整的前后端分离项目，深度应用现代Web技术栈，在实战中沉淀工程化经验与技术落地能力。</a:t>
            </a:r>
            <a:endParaRPr sz="1600">
              <a:solidFill>
                <a:srgbClr val="2B2F36">
                  <a:alpha val="81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85089FB-7441-4D5E-BFA8-5D128B2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af3b7c5a44172">
            <a:extLst>
              <a:ext uri="{96DAC541-7B7A-43D3-8B79-37D633B846F1}">
                <asvg:svgBlip xmlns:asvg="http://schemas.microsoft.com/office/drawing/2016/SVG/main" r:embed="Rdcc9cf098eec45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7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5D30780D-7ACB-4F3C-BEB2-661CDB6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67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03 数据一致性保障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46FD577-F1CE-4692-AE6E-BD41F920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10655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ctr">
              <a:lnSpc>
                <a:spcPct val="100000"/>
              </a:lnSpc>
              <a:buSzTx/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解决网络波动或误操作引发的重复提交问题，通过技术手段确保系统数据的准确性、完整性与一致性。</a:t>
            </a:r>
            <a:endParaRPr sz="1600">
              <a:solidFill>
                <a:srgbClr val="2B2F36">
                  <a:alpha val="81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97478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78E9BA2-0578-441E-8523-D5E9D15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FC51681-DFF5-41DE-B460-D88AD4B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设计理念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F8E2723-C1A5-4619-95DD-FD298E2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4090670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系统设计核心思想与用户体验目标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56998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52DD5E5-0219-AAA8-270B-B49CE8D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761" y="1201366"/>
            <a:ext cx="4766554" cy="461966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ed9e746ea4c93"/>
          <a:srcRect xmlns:a="http://schemas.openxmlformats.org/drawingml/2006/main" l="35294" t="59217" r="8123" b="5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6210" y="875030"/>
            <a:ext cx="2565400" cy="1625600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ed9e746ea4c93"/>
          <a:srcRect xmlns:a="http://schemas.openxmlformats.org/drawingml/2006/main" l="0" t="25000" r="50000" b="43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V="1">
            <a:off x="406400" y="281913"/>
            <a:ext cx="2565400" cy="1625600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0C7339E-D766-44C0-8343-A7BC834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730500"/>
            <a:ext cx="4829810" cy="9118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algn="just">
              <a:lnSpc>
                <a:spcPct val="125000"/>
              </a:lnSpc>
              <a:buNone/>
            </a:pP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以「</a:t>
            </a:r>
            <a:r>
              <a:rPr b="1">
                <a:latin typeface="微软雅黑"/>
                <a:ea typeface="微软雅黑"/>
                <a:cs typeface="微软雅黑"/>
              </a:rPr>
              <a:t>分离、分层、聚焦、规范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」为设计主线：前后端各司其职、权责分明，聚焦内容核心闭环，打造高可用、易维护的现代化博客系统</a:t>
            </a:r>
            <a:r>
              <a:rPr b="0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374F14C-52AB-482E-A53F-544E8174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7211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0" i="0" u="none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系统设计原则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CC5F596-CA2B-4547-A4DC-5AB92685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102100"/>
            <a:ext cx="4471035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0" b="1" i="0" u="none">
                <a:solidFill>
                  <a:srgbClr val="000000"/>
                </a:solidFill>
                <a:latin typeface="+mj-lt"/>
                <a:ea typeface="+mj-lt"/>
                <a:cs typeface="+mj-lt"/>
              </a:rPr>
              <a:t>核心思想</a:t>
            </a:r>
            <a:endParaRPr sz="1100">
              <a:latin typeface="+mj-lt"/>
              <a:ea typeface="+mj-lt"/>
              <a:cs typeface="+mj-lt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9E42672-125A-4C7D-A938-8C77E2F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711" y="2070100"/>
            <a:ext cx="5015688" cy="292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90500" tIns="190500" rIns="190500" bIns="190500" anchor="ctr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01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前后端分离：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后端专注提供 RESTful 接口，前端采用 Vue 3 独立开发部署，以 JSON 报文通信，关注点分离大幅提升并行开发与迭代效率。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02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角色清晰划分：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访客、注册用户、博主三级权限体系逐级递进，后台管理仅对博主开放，权限边界清晰可控，保障数据安全。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03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聚焦核心闭环：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不做社交关系链，专注写作、发布、阅读与检索的完整闭环，打磨极致的内容创作与消费体验。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</a:t>
            </a:r>
            <a:r>
              <a:rPr b="1">
                <a:latin typeface="微软雅黑"/>
                <a:ea typeface="微软雅黑"/>
                <a:cs typeface="微软雅黑"/>
              </a:rPr>
              <a:t>4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接口幂等保障：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基于策略模式与 Redis 幂等校验机制，杜绝弱网重复提交产生的重复数据，确保同一业务动作只落库一次。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05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统一工程规范：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全站接口采用统一响应结构，登录采用无状态令牌鉴权，接口文档由代码注解自动生成、与实现永远同步。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06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轻量资源策略：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图片等文件存放云存储、外链访问，热点数据进入 Redis 缓存，让应用服务器保持轻量高效。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6403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5B2A5C7-E6C0-48ED-836A-BE579AE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5" y="2419889"/>
            <a:ext cx="4038600" cy="222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我们致力于打造卓越的博客系统体验：前台以清晰的 Markdown 排版与响应式布局保障多端阅读舒适感，后台以集中管理面板与数据看板让创作和运营轻松高效，并以即时明确的状态反馈让用户始终掌控操作全局。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AEB9246-66E6-4077-B0C7-6059653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94" y="1562281"/>
            <a:ext cx="544642" cy="356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4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目标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FEC8351-9EF8-49A9-8D47-0D02E59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960" y="1289907"/>
            <a:ext cx="4038600" cy="44824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四大核心体验支柱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沉浸式阅读：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正文以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 Markdown 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存储并由前端渲染，支持代码语法高亮与多端响应式布局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便捷管理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草稿暂存、分类标签组织与封面配置一气呵成，后台集中管理文章与站点。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精准检索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关键词搜索叠加分类、标签多维筛选，快速命中目标内容。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即时反馈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发布、登录等关键操作均有明确状态提示，发布后前台内容实时可见。</a:t>
            </a:r>
            <a:endParaRPr sz="1600" b="0" i="0">
              <a:solidFill>
                <a:srgbClr val="2B2F36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16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47168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43FCEE1-67D6-445D-A6AC-231DD004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E6EB29E-FEF7-4AFE-B81D-2C4926B8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81559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核心功能全景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9B1C6A9-E348-455E-BDAC-059CBC5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790" y="2885060"/>
            <a:ext cx="3616325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博客前台与后台管理功能详解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6375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D49E11D-E064-480E-A8A3-70D04C89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博客前台功能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678F820-ADEA-4BD1-BD20-93A2A93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68985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聚焦用户端核心体验，打造集内容展示、高效导航与用户管理于一体的博客前台体系，通过清晰的功能模块设计，为读者提供流畅的浏览与互动服务。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B460CE9-EB01-4767-9099-B22D5B0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182920D-380B-44F6-A7E8-85EDA84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文章展示模块</a:t>
            </a:r>
            <a:endParaRPr sz="1800" b="1" i="0" u="none">
              <a:solidFill>
                <a:srgbClr val="000000"/>
              </a:solidFill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CDCEE8B-53A1-4F3F-B315-27BC2285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首页呈现文章列表与详情页，支持分页加载与按时间、热度排序，优化内容浏览效率</a:t>
            </a: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51F4F92-BE90-4E9A-9F09-851EA50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DD15C9D-1900-4EC9-96E7-1EFD901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分类与标签导航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0C98977-9E65-471A-8E48-BFA08BB0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建立分类与标签双重索引，实现内容快速检索与聚合，助力用户精准定位感兴趣主题。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C5345FA-4F1D-4759-A930-9045342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E3ABD59-D745-4B6F-8557-86E43D09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用户全流程管理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E277383E-67CF-45FA-AFCF-0BD76B0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提供注册、登录、密码找回及个人资料管理功能，为用户互动与社区运营筑牢基础。</a:t>
            </a:r>
          </a:p>
        </p:txBody>
      </p:sp>
      <p:pic>
        <p:nvPicPr>
          <p:cNvPr id="30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3279144ae48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7125" y="1973620"/>
            <a:ext cx="3217750" cy="2082800"/>
          </a:xfrm>
          <a:prstGeom xmlns:a="http://schemas.openxmlformats.org/drawingml/2006/main" prst="rect">
            <a:avLst/>
          </a:prstGeom>
        </p:spPr>
      </p:pic>
      <p:pic>
        <p:nvPicPr>
          <p:cNvPr id="3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afca0914d4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129" y="2066445"/>
            <a:ext cx="3003314" cy="1975810"/>
          </a:xfrm>
          <a:prstGeom xmlns:a="http://schemas.openxmlformats.org/drawingml/2006/main" prst="rect">
            <a:avLst/>
          </a:prstGeom>
        </p:spPr>
      </p:pic>
      <p:pic>
        <p:nvPicPr>
          <p:cNvPr id="32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4617d73274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1479" y="1950780"/>
            <a:ext cx="3040392" cy="201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09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53BED7B-0121-4656-B0ED-42AB61F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后台管理</a:t>
            </a: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94E3FF0-E193-47FF-8927-C74A880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689850" cy="1054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为博主打造的高效工作台，集成内容创作、分类管理与系统监控的一站式管理平台。通过直观的操作界面，实现从内容生产到运营数据监控的全流程管理，助力博主高效运营。</a:t>
            </a:r>
            <a:endParaRPr sz="16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3030E70-2814-44C3-B5FB-96B24C7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67FE733-C47C-4FB9-AD21-C317010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文章全生命周期管理</a:t>
            </a:r>
            <a:endParaRPr sz="1800" b="1"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1D09C1-1176-4BB0-946A-2DBBB0C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支持文章增删改查、草稿暂存、封面自定义及阅读时长智能估算，打造流畅的内容创作与发布体验。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FB19A34-42B6-4489-91F9-A45A86F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088EF90-C8D3-4A70-B454-EBB4D22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分类与标签体系维护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3CA6846-5ECB-4BEC-A4E9-18DB08D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对文章分类层级与标签关键词进行全生命周期维护，构建清晰的内容索引体系，提升内容检索效率。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580365F-294D-4A16-9659-B1231269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BF451E7-5C44-486C-890D-0E9FA9CA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系统配置与数据看板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2FF77FD-F3C4-47EB-9C36-368086C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可视化配置站点基础信息，实时监控文件上传状态，提供多维度数据统计看板，直观掌握博客运营动态。</a:t>
            </a:r>
          </a:p>
        </p:txBody>
      </p:sp>
      <p:pic>
        <p:nvPicPr>
          <p:cNvPr id="3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3d974117943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974850"/>
            <a:ext cx="2489200" cy="20828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7343cbb1849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4925" y="1847850"/>
            <a:ext cx="2489200" cy="20828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b8ee0c51f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8725" y="2222500"/>
            <a:ext cx="2489200" cy="2082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375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0088a4d5e4f08"/>
          <a:srcRect xmlns:a="http://schemas.openxmlformats.org/drawingml/2006/main" l="0" t="0" r="0" b="7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0880" y="959660"/>
            <a:ext cx="5276278" cy="4938680"/>
          </a:xfrm>
          <a:prstGeom xmlns:a="http://schemas.openxmlformats.org/drawingml/2006/main" prst="rect">
            <a:avLst/>
          </a:prstGeom>
        </p:spPr>
      </p:pic>
      <p:sp>
        <p:nvSpPr>
          <p:cNvPr id="12" name="TextBox 10">
            <a:extLst xmlns:a="http://schemas.openxmlformats.org/drawingml/2006/main">
              <a:ext uri="{FF2B5EF4-FFF2-40B4-BE49-F238E27FC236}">
                <a16:creationId xmlns:a16="http://schemas.microsoft.com/office/drawing/2014/main" id="{4A59C089-A3DF-908E-DA89-F0A3EC2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217" y="2951946"/>
            <a:ext cx="3330859" cy="9541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集成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 DeepSeek 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大模型：一键改写优化正文，支持重新生成与确认应用，API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 Key 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仅存于服务端，创作效率与质量双提升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22BA565-D117-4759-2316-482E11B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588" y="1613119"/>
            <a:ext cx="267252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微软雅黑"/>
                <a:ea typeface="微软雅黑"/>
                <a:cs typeface="微软雅黑"/>
              </a:rPr>
              <a:t>AI </a:t>
            </a:r>
            <a:r>
              <a:rPr sz="3600" b="1">
                <a:latin typeface="微软雅黑"/>
                <a:ea typeface="微软雅黑"/>
                <a:cs typeface="微软雅黑"/>
              </a:rPr>
              <a:t>智能润色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44676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D73766-F322-4AEC-B4CF-CFFBA9B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21546A3-EF88-4BE5-928F-BA726E89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技术创新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5647C17-241D-4440-9E29-46813EC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3344545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关键技术栈与核心实现亮点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80384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D1007B5-F50B-4107-9F8E-FD00C9A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914400"/>
            <a:ext cx="3175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24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BA4AF88-3663-4EFF-97ED-262E735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914400"/>
            <a:ext cx="3175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02B1C3EE-9AF2-49E5-B82E-A92948B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6898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编辑正文</a:t>
            </a:r>
          </a:p>
        </p:txBody>
      </p:sp>
      <p:sp>
        <p:nvSpPr>
          <p:cNvPr id="63" name="矩形: 圆角 62">
            <a:extLst xmlns:a="http://schemas.openxmlformats.org/drawingml/2006/main">
              <a:ext uri="{FF2B5EF4-FFF2-40B4-BE49-F238E27FC236}">
                <a16:creationId xmlns:a16="http://schemas.microsoft.com/office/drawing/2014/main" id="{939E4EDE-974E-4BAA-B7F4-EB376BC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644" y="920886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一键润色</a:t>
            </a:r>
          </a:p>
        </p:txBody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79711670-6893-4287-A317-A4DD64F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036" y="2559725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服务端调用</a:t>
            </a:r>
          </a:p>
        </p:txBody>
      </p:sp>
      <p:sp>
        <p:nvSpPr>
          <p:cNvPr id="65" name="矩形: 圆角 64">
            <a:extLst xmlns:a="http://schemas.openxmlformats.org/drawingml/2006/main">
              <a:ext uri="{FF2B5EF4-FFF2-40B4-BE49-F238E27FC236}">
                <a16:creationId xmlns:a16="http://schemas.microsoft.com/office/drawing/2014/main" id="{29F4C532-31EF-41DC-A1BC-98BAFE9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04" y="4512553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结果预览</a:t>
            </a:r>
          </a:p>
        </p:txBody>
      </p:sp>
      <p:sp>
        <p:nvSpPr>
          <p:cNvPr id="66" name="矩形: 圆角 65">
            <a:extLst xmlns:a="http://schemas.openxmlformats.org/drawingml/2006/main">
              <a:ext uri="{FF2B5EF4-FFF2-40B4-BE49-F238E27FC236}">
                <a16:creationId xmlns:a16="http://schemas.microsoft.com/office/drawing/2014/main" id="{74B3963A-03EA-4AF5-9108-3642AA8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368" y="5156740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确认应用</a:t>
            </a:r>
          </a:p>
        </p:txBody>
      </p:sp>
      <p:cxnSp>
        <p:nvCxnSpPr>
          <p:cNvPr id="80" name="连接符: 曲线 4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4127500" y="1013298"/>
            <a:ext cx="1080000" cy="288000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1" name="连接符: 曲线 7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rot="5400000">
            <a:off x="5035821" y="1417401"/>
            <a:ext cx="826039" cy="1458608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2" name="连接符: 曲线 10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 rot="5400000">
            <a:off x="4040356" y="3833373"/>
            <a:ext cx="1140028" cy="218332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3" name="连接符: 曲线 12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453704" y="4918953"/>
            <a:ext cx="1198664" cy="644187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4" name="连接符: 曲线 14"/>
          <p:cNvCxnSpPr>
            <a:stCxn xmlns:a="http://schemas.openxmlformats.org/drawingml/2006/main" id="66" idx="0"/>
            <a:endCxn xmlns:a="http://schemas.openxmlformats.org/drawingml/2006/main" id="64" idx="3"/>
          </p:cNvCxnSpPr>
          <p:nvPr/>
        </p:nvCxnSpPr>
        <p:spPr>
          <a:xfrm xmlns:a="http://schemas.openxmlformats.org/drawingml/2006/main" rot="16200000" flipV="1">
            <a:off x="5543145" y="3095017"/>
            <a:ext cx="2190615" cy="1932832"/>
          </a:xfrm>
          <a:prstGeom xmlns:a="http://schemas.openxmlformats.org/drawingml/2006/main" prst="curvedConnector2">
            <a:avLst/>
          </a:prstGeom>
          <a:ln xmlns:a="http://schemas.openxmlformats.org/drawingml/2006/main" w="31750">
            <a:prstDash val="sys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623515FF-7E3D-4594-918B-C293CC10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19" y="3578428"/>
            <a:ext cx="1472659" cy="279400"/>
          </a:xfrm>
          <a:prstGeom xmlns:a="http://schemas.openxmlformats.org/drawingml/2006/main" prst="roundRect">
            <a:avLst>
              <a:gd name="adj" fmla="val 437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重新生成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0125C6C-BD51-AA74-2A13-F0636C4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368" y="2559725"/>
            <a:ext cx="195438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/>
              <a:t>润  色</a:t>
            </a:r>
          </a:p>
        </p:txBody>
      </p:sp>
    </p:spTree>
    <p:extLst>
      <p:ext uri="{BB962C8B-B14F-4D97-AF65-F5344CB8AC3E}">
        <p14:creationId xmlns:p14="http://schemas.microsoft.com/office/powerpoint/2010/main" val="16913328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24E6A9-0ED4-4522-987C-DFECF3E7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102100"/>
            <a:ext cx="3908425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技术栈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D0E8BA8-CEE5-4364-A97D-8AEBA75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7211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0" i="0" u="none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核心架构与选型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4113A95-E2C7-4FF6-B08A-03049E1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730500"/>
            <a:ext cx="4543425" cy="9290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前后端彻底分离：后端专注 RESTful 数据服务，前端独立开发部署，以 JSON 报文通信，共同构成高可用、易扩展的系统基座。</a:t>
            </a:r>
          </a:p>
        </p:txBody>
      </p:sp>
      <p:sp>
        <p:nvSpPr>
          <p:cNvPr id="87" name="矩形: 圆角 86">
            <a:extLst xmlns:a="http://schemas.openxmlformats.org/drawingml/2006/main">
              <a:ext uri="{FF2B5EF4-FFF2-40B4-BE49-F238E27FC236}">
                <a16:creationId xmlns:a16="http://schemas.microsoft.com/office/drawing/2014/main" id="{935F530C-5339-49AF-98FC-160DB90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矩形: 圆角 87">
            <a:extLst xmlns:a="http://schemas.openxmlformats.org/drawingml/2006/main">
              <a:ext uri="{FF2B5EF4-FFF2-40B4-BE49-F238E27FC236}">
                <a16:creationId xmlns:a16="http://schemas.microsoft.com/office/drawing/2014/main" id="{83B42F2E-9A13-402D-9BC1-74801F0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矩形: 圆角 88">
            <a:extLst xmlns:a="http://schemas.openxmlformats.org/drawingml/2006/main">
              <a:ext uri="{FF2B5EF4-FFF2-40B4-BE49-F238E27FC236}">
                <a16:creationId xmlns:a16="http://schemas.microsoft.com/office/drawing/2014/main" id="{ECB360B1-1F8B-4073-9A91-7F99D1C4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矩形: 圆角 89">
            <a:extLst xmlns:a="http://schemas.openxmlformats.org/drawingml/2006/main">
              <a:ext uri="{FF2B5EF4-FFF2-40B4-BE49-F238E27FC236}">
                <a16:creationId xmlns:a16="http://schemas.microsoft.com/office/drawing/2014/main" id="{B0F39CB3-5FB3-4CCC-A999-D7A35F1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矩形: 圆角 90">
            <a:extLst xmlns:a="http://schemas.openxmlformats.org/drawingml/2006/main">
              <a:ext uri="{FF2B5EF4-FFF2-40B4-BE49-F238E27FC236}">
                <a16:creationId xmlns:a16="http://schemas.microsoft.com/office/drawing/2014/main" id="{46064C7D-4F57-46D5-A3E2-3163961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矩形: 圆角 91">
            <a:extLst xmlns:a="http://schemas.openxmlformats.org/drawingml/2006/main">
              <a:ext uri="{FF2B5EF4-FFF2-40B4-BE49-F238E27FC236}">
                <a16:creationId xmlns:a16="http://schemas.microsoft.com/office/drawing/2014/main" id="{4EE71FA4-BACD-48BD-B1D2-418DF11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矩形: 圆角 92">
            <a:extLst xmlns:a="http://schemas.openxmlformats.org/drawingml/2006/main">
              <a:ext uri="{FF2B5EF4-FFF2-40B4-BE49-F238E27FC236}">
                <a16:creationId xmlns:a16="http://schemas.microsoft.com/office/drawing/2014/main" id="{DE68E48C-7745-475E-B643-C0D3390A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矩形: 圆角 93">
            <a:extLst xmlns:a="http://schemas.openxmlformats.org/drawingml/2006/main">
              <a:ext uri="{FF2B5EF4-FFF2-40B4-BE49-F238E27FC236}">
                <a16:creationId xmlns:a16="http://schemas.microsoft.com/office/drawing/2014/main" id="{DFBE512F-FBAE-4DD3-A4AF-6B97366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矩形: 圆角 94">
            <a:extLst xmlns:a="http://schemas.openxmlformats.org/drawingml/2006/main">
              <a:ext uri="{FF2B5EF4-FFF2-40B4-BE49-F238E27FC236}">
                <a16:creationId xmlns:a16="http://schemas.microsoft.com/office/drawing/2014/main" id="{5C963582-41E9-4B92-8E76-5EC9E28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SpringBoot</a:t>
            </a:r>
          </a:p>
        </p:txBody>
      </p:sp>
      <p:sp>
        <p:nvSpPr>
          <p:cNvPr id="96" name="矩形: 圆角 95">
            <a:extLst xmlns:a="http://schemas.openxmlformats.org/drawingml/2006/main">
              <a:ext uri="{FF2B5EF4-FFF2-40B4-BE49-F238E27FC236}">
                <a16:creationId xmlns:a16="http://schemas.microsoft.com/office/drawing/2014/main" id="{FA7EBE39-5FA0-4617-9295-A8A5E54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Java</a:t>
            </a:r>
          </a:p>
        </p:txBody>
      </p:sp>
      <p:sp>
        <p:nvSpPr>
          <p:cNvPr id="97" name="矩形: 圆角 96">
            <a:extLst xmlns:a="http://schemas.openxmlformats.org/drawingml/2006/main">
              <a:ext uri="{FF2B5EF4-FFF2-40B4-BE49-F238E27FC236}">
                <a16:creationId xmlns:a16="http://schemas.microsoft.com/office/drawing/2014/main" id="{DC3750DA-75B1-44B3-9B70-1CA13633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MyBatis-Plus</a:t>
            </a:r>
          </a:p>
        </p:txBody>
      </p:sp>
      <p:sp>
        <p:nvSpPr>
          <p:cNvPr id="98" name="矩形: 圆角 97">
            <a:extLst xmlns:a="http://schemas.openxmlformats.org/drawingml/2006/main">
              <a:ext uri="{FF2B5EF4-FFF2-40B4-BE49-F238E27FC236}">
                <a16:creationId xmlns:a16="http://schemas.microsoft.com/office/drawing/2014/main" id="{6CCE5F06-D245-4D91-8A17-D501C01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MySQL</a:t>
            </a:r>
          </a:p>
        </p:txBody>
      </p:sp>
      <p:sp>
        <p:nvSpPr>
          <p:cNvPr id="99" name="矩形: 圆角 98">
            <a:extLst xmlns:a="http://schemas.openxmlformats.org/drawingml/2006/main">
              <a:ext uri="{FF2B5EF4-FFF2-40B4-BE49-F238E27FC236}">
                <a16:creationId xmlns:a16="http://schemas.microsoft.com/office/drawing/2014/main" id="{FF8F34AB-EE14-4DA0-BD1A-DC65456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3.2.3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服务基座</a:t>
            </a:r>
          </a:p>
        </p:txBody>
      </p:sp>
      <p:sp>
        <p:nvSpPr>
          <p:cNvPr id="100" name="矩形: 圆角 99">
            <a:extLst xmlns:a="http://schemas.openxmlformats.org/drawingml/2006/main">
              <a:ext uri="{FF2B5EF4-FFF2-40B4-BE49-F238E27FC236}">
                <a16:creationId xmlns:a16="http://schemas.microsoft.com/office/drawing/2014/main" id="{0313C315-1A44-4C69-A4BE-76EDCFB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17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语言基线</a:t>
            </a:r>
          </a:p>
        </p:txBody>
      </p:sp>
      <p:sp>
        <p:nvSpPr>
          <p:cNvPr id="101" name="矩形: 圆角 100">
            <a:extLst xmlns:a="http://schemas.openxmlformats.org/drawingml/2006/main">
              <a:ext uri="{FF2B5EF4-FFF2-40B4-BE49-F238E27FC236}">
                <a16:creationId xmlns:a16="http://schemas.microsoft.com/office/drawing/2014/main" id="{01E814ED-8853-49B7-856F-D3EC90F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3.5.5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数据访问</a:t>
            </a:r>
          </a:p>
        </p:txBody>
      </p:sp>
      <p:sp>
        <p:nvSpPr>
          <p:cNvPr id="102" name="矩形: 圆角 101">
            <a:extLst xmlns:a="http://schemas.openxmlformats.org/drawingml/2006/main">
              <a:ext uri="{FF2B5EF4-FFF2-40B4-BE49-F238E27FC236}">
                <a16:creationId xmlns:a16="http://schemas.microsoft.com/office/drawing/2014/main" id="{9A86CF10-F48A-4925-8098-813D58B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8.0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关系型存储</a:t>
            </a:r>
          </a:p>
        </p:txBody>
      </p:sp>
      <p:sp>
        <p:nvSpPr>
          <p:cNvPr id="103" name="矩形: 圆角 102">
            <a:extLst xmlns:a="http://schemas.openxmlformats.org/drawingml/2006/main">
              <a:ext uri="{FF2B5EF4-FFF2-40B4-BE49-F238E27FC236}">
                <a16:creationId xmlns:a16="http://schemas.microsoft.com/office/drawing/2014/main" id="{BD7F4E53-ECFE-452C-B5B8-8372538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Redis</a:t>
            </a:r>
          </a:p>
        </p:txBody>
      </p:sp>
      <p:sp>
        <p:nvSpPr>
          <p:cNvPr id="104" name="矩形: 圆角 103">
            <a:extLst xmlns:a="http://schemas.openxmlformats.org/drawingml/2006/main">
              <a:ext uri="{FF2B5EF4-FFF2-40B4-BE49-F238E27FC236}">
                <a16:creationId xmlns:a16="http://schemas.microsoft.com/office/drawing/2014/main" id="{E0CD0C1C-4A74-4F76-8269-5646ECB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Vue</a:t>
            </a:r>
          </a:p>
        </p:txBody>
      </p:sp>
      <p:sp>
        <p:nvSpPr>
          <p:cNvPr id="105" name="矩形: 圆角 104">
            <a:extLst xmlns:a="http://schemas.openxmlformats.org/drawingml/2006/main">
              <a:ext uri="{FF2B5EF4-FFF2-40B4-BE49-F238E27FC236}">
                <a16:creationId xmlns:a16="http://schemas.microsoft.com/office/drawing/2014/main" id="{DB68972B-36AB-4B7F-8877-A38453E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06" name="矩形: 圆角 105">
            <a:extLst xmlns:a="http://schemas.openxmlformats.org/drawingml/2006/main">
              <a:ext uri="{FF2B5EF4-FFF2-40B4-BE49-F238E27FC236}">
                <a16:creationId xmlns:a16="http://schemas.microsoft.com/office/drawing/2014/main" id="{8582B379-FA5A-4363-B52A-41A991C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Tiptap</a:t>
            </a:r>
          </a:p>
        </p:txBody>
      </p:sp>
      <p:sp>
        <p:nvSpPr>
          <p:cNvPr id="107" name="矩形: 圆角 106">
            <a:extLst xmlns:a="http://schemas.openxmlformats.org/drawingml/2006/main">
              <a:ext uri="{FF2B5EF4-FFF2-40B4-BE49-F238E27FC236}">
                <a16:creationId xmlns:a16="http://schemas.microsoft.com/office/drawing/2014/main" id="{D3574D78-A412-4B85-9CA6-2FA6C38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缓存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幂等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锁</a:t>
            </a:r>
          </a:p>
        </p:txBody>
      </p:sp>
      <p:sp>
        <p:nvSpPr>
          <p:cNvPr id="108" name="矩形: 圆角 107">
            <a:extLst xmlns:a="http://schemas.openxmlformats.org/drawingml/2006/main">
              <a:ext uri="{FF2B5EF4-FFF2-40B4-BE49-F238E27FC236}">
                <a16:creationId xmlns:a16="http://schemas.microsoft.com/office/drawing/2014/main" id="{06BF3411-75A1-4763-9B4C-277DD71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响应式组件化</a:t>
            </a:r>
          </a:p>
        </p:txBody>
      </p:sp>
      <p:sp>
        <p:nvSpPr>
          <p:cNvPr id="109" name="矩形: 圆角 108">
            <a:extLst xmlns:a="http://schemas.openxmlformats.org/drawingml/2006/main">
              <a:ext uri="{FF2B5EF4-FFF2-40B4-BE49-F238E27FC236}">
                <a16:creationId xmlns:a16="http://schemas.microsoft.com/office/drawing/2014/main" id="{7AF71405-B1DC-490C-9F4C-D177577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强类型约束</a:t>
            </a:r>
          </a:p>
        </p:txBody>
      </p:sp>
      <p:sp>
        <p:nvSpPr>
          <p:cNvPr id="110" name="矩形: 圆角 109">
            <a:extLst xmlns:a="http://schemas.openxmlformats.org/drawingml/2006/main">
              <a:ext uri="{FF2B5EF4-FFF2-40B4-BE49-F238E27FC236}">
                <a16:creationId xmlns:a16="http://schemas.microsoft.com/office/drawing/2014/main" id="{82DF0865-1187-49AA-8B20-7B093D8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Markdown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编辑渲染</a:t>
            </a:r>
          </a:p>
        </p:txBody>
      </p:sp>
      <p:pic>
        <p:nvPicPr>
          <p:cNvPr id="146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6e9e53097457a"/>
          <a:stretch xmlns:a="http://schemas.openxmlformats.org/drawingml/2006/main"/>
        </p:blipFill>
        <p:spPr>
          <a:xfrm xmlns:a="http://schemas.openxmlformats.org/drawingml/2006/main">
            <a:off x="5803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47" name="图片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0358208f64bb8"/>
          <a:stretch xmlns:a="http://schemas.openxmlformats.org/drawingml/2006/main"/>
        </p:blipFill>
        <p:spPr>
          <a:xfrm xmlns:a="http://schemas.openxmlformats.org/drawingml/2006/main">
            <a:off x="7454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48" name="图片 1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92a05f8c94de6"/>
          <a:stretch xmlns:a="http://schemas.openxmlformats.org/drawingml/2006/main"/>
        </p:blipFill>
        <p:spPr>
          <a:xfrm xmlns:a="http://schemas.openxmlformats.org/drawingml/2006/main">
            <a:off x="8775700" y="1308100"/>
            <a:ext cx="1212272" cy="304800"/>
          </a:xfrm>
          <a:prstGeom xmlns:a="http://schemas.openxmlformats.org/drawingml/2006/main" prst="rect">
            <a:avLst/>
          </a:prstGeom>
        </p:spPr>
      </p:pic>
      <p:pic>
        <p:nvPicPr>
          <p:cNvPr id="149" name="图片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325f6db004031"/>
          <a:stretch xmlns:a="http://schemas.openxmlformats.org/drawingml/2006/main"/>
        </p:blipFill>
        <p:spPr>
          <a:xfrm xmlns:a="http://schemas.openxmlformats.org/drawingml/2006/main">
            <a:off x="10756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0" name="图片 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5927436984358"/>
          <a:stretch xmlns:a="http://schemas.openxmlformats.org/drawingml/2006/main"/>
        </p:blipFill>
        <p:spPr>
          <a:xfrm xmlns:a="http://schemas.openxmlformats.org/drawingml/2006/main">
            <a:off x="5803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1" name="图片 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bb61b17434139"/>
          <a:stretch xmlns:a="http://schemas.openxmlformats.org/drawingml/2006/main"/>
        </p:blipFill>
        <p:spPr>
          <a:xfrm xmlns:a="http://schemas.openxmlformats.org/drawingml/2006/main">
            <a:off x="7454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2" name="图片 1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02498a78b4662"/>
          <a:stretch xmlns:a="http://schemas.openxmlformats.org/drawingml/2006/main"/>
        </p:blipFill>
        <p:spPr>
          <a:xfrm xmlns:a="http://schemas.openxmlformats.org/drawingml/2006/main">
            <a:off x="9105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3" name="图片 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16c7a5e5042b0"/>
          <a:stretch xmlns:a="http://schemas.openxmlformats.org/drawingml/2006/main"/>
        </p:blipFill>
        <p:spPr>
          <a:xfrm xmlns:a="http://schemas.openxmlformats.org/drawingml/2006/main">
            <a:off x="10756900" y="4165600"/>
            <a:ext cx="558800" cy="55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450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02712C8-7A99-419F-A379-356C104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  <a:defRPr sz="33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 i="0" u="none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项目模块与技术栈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8e1fa8c18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6190112"/>
            <a:ext cx="1524000" cy="6678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B1101-7C73-46E2-BDFC-F4953B70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PROJECT MODULES  /  前后端分离 · RESTful API · AI 智能增强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DCA9D-DC01-48D6-8440-075803B7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668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84D2-A940-4819-81FA-8D5BB3E0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29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从内容浏览到创作管理，再到智能能力与数据服务，形成完整业务闭环</a:t>
            </a:r>
          </a:p>
        </p:txBody>
      </p:sp>
      <p:sp>
        <p:nvSpPr>
          <p:cNvPr id="7" name="module-阅读前台">
            <a:extLst xmlns:a="http://schemas.openxmlformats.org/drawingml/2006/main">
              <a:ext uri="{FF2B5EF4-FFF2-40B4-BE49-F238E27FC236}">
                <a16:creationId xmlns:a16="http://schemas.microsoft.com/office/drawing/2014/main" id="{09446647-C155-4C53-9B2B-51D4143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35052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3F5">
              <a:alpha val="94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BC1A-F8FE-4329-A1AA-CC8BA194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DEAB5-6906-4FBC-9CCB-A0E15B2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9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1da403c404295">
            <a:extLst>
              <a:ext uri="{96DAC541-7B7A-43D3-8B79-37D633B846F1}">
                <asvg:svgBlip xmlns:asvg="http://schemas.microsoft.com/office/drawing/2016/SVG/main" r:embed="Re5614f200e4646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1619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28A38-0B0E-43CC-90FB-D912024D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668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阅读前台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B97D-3715-4C08-B979-F09037A2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62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面向访客与注册用户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2D521-5FF2-4BEB-9E89-2906D7F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E7C88-0105-43AF-9CB1-4DA79E41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e53c3dde4a7f">
            <a:extLst>
              <a:ext uri="{96DAC541-7B7A-43D3-8B79-37D633B846F1}">
                <asvg:svgBlip xmlns:asvg="http://schemas.microsoft.com/office/drawing/2016/SVG/main" r:embed="Rb2c8e0e45cd64e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23907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C868B-DDD1-4AC1-8582-F062C8E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文章浏览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C55E4-25FA-4FBC-9E19-5B38FEE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列表、详情与多维排序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1FE35-A782-4E60-899D-20CE470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1D671-0F37-45EA-905B-1516C56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806a1d0b14a6c">
            <a:extLst>
              <a:ext uri="{96DAC541-7B7A-43D3-8B79-37D633B846F1}">
                <asvg:svgBlip xmlns:asvg="http://schemas.microsoft.com/office/drawing/2016/SVG/main" r:embed="R55215feac66542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305752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8A7A3-9C4D-4F2A-A0BA-64D9BB1A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分类与标签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2DAE9-C153-4827-A632-7DFE267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主题聚合与快速定位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36AC7-C0F6-4C82-9A76-9085CAC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E7978-B50D-42BF-A6A0-5A56CA6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3844e02e748a8">
            <a:extLst>
              <a:ext uri="{96DAC541-7B7A-43D3-8B79-37D633B846F1}">
                <asvg:svgBlip xmlns:asvg="http://schemas.microsoft.com/office/drawing/2016/SVG/main" r:embed="R6985015ec58442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37242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F8E0C-A101-4FB8-B790-3E61D9C3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用户中心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79295-EDA1-4D64-A533-10C291E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00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注册、登录与资料管理</a:t>
            </a:r>
          </a:p>
        </p:txBody>
      </p:sp>
      <p:sp>
        <p:nvSpPr>
          <p:cNvPr id="28" name="module-创作后台">
            <a:extLst xmlns:a="http://schemas.openxmlformats.org/drawingml/2006/main">
              <a:ext uri="{FF2B5EF4-FFF2-40B4-BE49-F238E27FC236}">
                <a16:creationId xmlns:a16="http://schemas.microsoft.com/office/drawing/2014/main" id="{A2B85F55-72C0-402B-BF2B-496632AA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04925"/>
            <a:ext cx="35052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3F5">
              <a:alpha val="94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AFF00-3820-4A53-94A8-6F3BEBD8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7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70D5C-3447-4EB9-B913-0FADD31C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9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5296f45cc4893">
            <a:extLst>
              <a:ext uri="{96DAC541-7B7A-43D3-8B79-37D633B846F1}">
                <asvg:svgBlip xmlns:asvg="http://schemas.microsoft.com/office/drawing/2016/SVG/main" r:embed="Rea1f203594fa44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29175" y="1619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A1718-C03C-4534-9619-F9DCB793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668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创作后台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9A07D-770B-4D43-9C05-B505E729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62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面向内容维护与运营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308042-FE73-416B-A575-3AB2E64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BC973-D67F-4237-B9CA-00E7D0C7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73221aea545d3">
            <a:extLst>
              <a:ext uri="{96DAC541-7B7A-43D3-8B79-37D633B846F1}">
                <asvg:svgBlip xmlns:asvg="http://schemas.microsoft.com/office/drawing/2016/SVG/main" r:embed="R402570c9167e46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23907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A20788-5235-4507-992C-54889A13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文章全生命周期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DE8FE-E414-4612-BF05-B965B23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草稿、发布、编辑与封面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48EE2-94E4-4090-AF33-2B8F7124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4797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01B326-7CFE-4D88-84C0-8DE55929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d7fe02e014318">
            <a:extLst>
              <a:ext uri="{96DAC541-7B7A-43D3-8B79-37D633B846F1}">
                <asvg:svgBlip xmlns:asvg="http://schemas.microsoft.com/office/drawing/2016/SVG/main" r:embed="Rb003a883b1b444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05752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6B17C3-AC51-424D-BD56-47A6118F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33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Markdown 编辑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E2EC9E-F48A-4838-AABE-0897D50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结构化创作与即时渲染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E990DE-3701-4C6F-AF39-23712F07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147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8CE80D-57BB-40B2-B09A-9E05A57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6528898cf45d6">
            <a:extLst>
              <a:ext uri="{96DAC541-7B7A-43D3-8B79-37D633B846F1}">
                <asvg:svgBlip xmlns:asvg="http://schemas.microsoft.com/office/drawing/2016/SVG/main" r:embed="R53e975c4874242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7242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94FFE1-7C8A-4BA2-8850-D3F9AB0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配置与数据看板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B2FC6B-6794-466F-BE31-1A77CD2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100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站点配置、上传与统计</a:t>
            </a:r>
          </a:p>
        </p:txBody>
      </p:sp>
      <p:sp>
        <p:nvSpPr>
          <p:cNvPr id="49" name="module-智能与服务">
            <a:extLst xmlns:a="http://schemas.openxmlformats.org/drawingml/2006/main">
              <a:ext uri="{FF2B5EF4-FFF2-40B4-BE49-F238E27FC236}">
                <a16:creationId xmlns:a16="http://schemas.microsoft.com/office/drawing/2014/main" id="{A3D9AB19-65C1-4C87-B36F-8C44E3A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04925"/>
            <a:ext cx="35052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3F5">
              <a:alpha val="94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8B957C-5484-49CD-84BA-B94C948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240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1BC92C-1BB3-4CFF-BD4C-7F9D769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9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bb625825a4ca2">
            <a:extLst>
              <a:ext uri="{96DAC541-7B7A-43D3-8B79-37D633B846F1}">
                <asvg:svgBlip xmlns:asvg="http://schemas.microsoft.com/office/drawing/2016/SVG/main" r:embed="Rb2d511b68dc14a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39175" y="1619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2F9266-59E0-4DE3-B37A-84C58745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智能与服务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444197-953C-476B-85C9-272A482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面向效率提升与系统支撑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A5812D-416C-4366-A67F-24EE22C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812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3A0E1A-8DB6-4F24-8FCB-FDB55CD4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cf1b90f3d4aff">
            <a:extLst>
              <a:ext uri="{96DAC541-7B7A-43D3-8B79-37D633B846F1}">
                <asvg:svgBlip xmlns:asvg="http://schemas.microsoft.com/office/drawing/2016/SVG/main" r:embed="R8da8f63f1bc54a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23907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C71CFD-214E-4F0C-B800-97430F9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DeepSeek 智能润色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E63A20-C8B7-4338-9DF0-B325254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改写、重生成与确认应用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9DA521-473A-4F3B-A7B3-EE3D3F3B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5DA794-7B23-41C6-8A57-9D07DE8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a2dbb9c7c4317">
            <a:extLst>
              <a:ext uri="{96DAC541-7B7A-43D3-8B79-37D633B846F1}">
                <asvg:svgBlip xmlns:asvg="http://schemas.microsoft.com/office/drawing/2016/SVG/main" r:embed="R3de2ebb147c244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305752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FBB50B-F188-494E-9FA5-D43A0C78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RESTful 数据接口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0E767B-8F29-4393-956C-2685E5A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JSON 通信与前后端解耦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455374-9E95-401D-A816-56F2A4E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14725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E4E6EA">
                <a:alpha val="9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973D49-DB25-46E2-B223-0058DFA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6dc33b58844aa">
            <a:extLst>
              <a:ext uri="{96DAC541-7B7A-43D3-8B79-37D633B846F1}">
                <asvg:svgBlip xmlns:asvg="http://schemas.microsoft.com/office/drawing/2016/SVG/main" r:embed="R623b59ed4eaa43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372427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F71747-0BBE-492D-B1CC-F4463BC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缓存与数据持久化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0DC1CB-4A60-4F6A-BB53-E0B495B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高效访问与稳定存储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1BC0D3-9E86-477B-97F0-53A230B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962525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D3E96D-36AA-41DD-9979-C826E80F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76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3676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3676D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92EFC6-72CF-4D0C-92CC-8F30F9E8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149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3676D"/>
                </a:solidFill>
                <a:latin typeface="微软雅黑"/>
                <a:ea typeface="微软雅黑"/>
                <a:cs typeface="微软雅黑"/>
              </a:rPr>
              <a:t>核心框架与工具</a:t>
            </a:r>
          </a:p>
        </p:txBody>
      </p:sp>
      <p:sp>
        <p:nvSpPr>
          <p:cNvPr id="73" name="tech-Spring Boot">
            <a:extLst xmlns:a="http://schemas.openxmlformats.org/drawingml/2006/main">
              <a:ext uri="{FF2B5EF4-FFF2-40B4-BE49-F238E27FC236}">
                <a16:creationId xmlns:a16="http://schemas.microsoft.com/office/drawing/2014/main" id="{4A5A7ADE-D573-4312-A1F5-9824D86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B0A21A-BB01-4657-B341-25B92F7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49066ed54a84"/>
          <a:stretch xmlns:a="http://schemas.openxmlformats.org/drawingml/2006/main"/>
        </p:blipFill>
        <p:spPr>
          <a:xfrm xmlns:a="http://schemas.openxmlformats.org/drawingml/2006/main">
            <a:off x="186213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3E9844-6821-4B67-8F57-D53206D3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473474-0ECE-4F96-A15E-314DCDB1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B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ch-Java 17">
            <a:extLst xmlns:a="http://schemas.openxmlformats.org/drawingml/2006/main">
              <a:ext uri="{FF2B5EF4-FFF2-40B4-BE49-F238E27FC236}">
                <a16:creationId xmlns:a16="http://schemas.microsoft.com/office/drawing/2014/main" id="{A500C8E0-6C57-4A55-A211-C418317B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5013450-8355-4BAF-A0B8-A4D6F23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8bd15cc8b48af"/>
          <a:stretch xmlns:a="http://schemas.openxmlformats.org/drawingml/2006/main"/>
        </p:blipFill>
        <p:spPr>
          <a:xfrm xmlns:a="http://schemas.openxmlformats.org/drawingml/2006/main">
            <a:off x="298608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07F1BB-2D57-4452-B51E-E30F2607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Java 17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ACEDF7-3AAD-4982-A246-20BD5C2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4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ch-MyBatis+">
            <a:extLst xmlns:a="http://schemas.openxmlformats.org/drawingml/2006/main">
              <a:ext uri="{FF2B5EF4-FFF2-40B4-BE49-F238E27FC236}">
                <a16:creationId xmlns:a16="http://schemas.microsoft.com/office/drawing/2014/main" id="{8271D26A-CCDB-49E7-897E-1AC272F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E91B42-87E8-4924-B931-B098DC9D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bd7e19da749e0"/>
          <a:stretch xmlns:a="http://schemas.openxmlformats.org/drawingml/2006/main"/>
        </p:blipFill>
        <p:spPr>
          <a:xfrm xmlns:a="http://schemas.openxmlformats.org/drawingml/2006/main">
            <a:off x="3995738" y="5150249"/>
            <a:ext cx="552450" cy="138902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9466DE-8C5F-426B-B262-63F5467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MyBatis+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F92860-6F48-4DF0-8E99-393AC68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tech-MySQL 8">
            <a:extLst xmlns:a="http://schemas.openxmlformats.org/drawingml/2006/main">
              <a:ext uri="{FF2B5EF4-FFF2-40B4-BE49-F238E27FC236}">
                <a16:creationId xmlns:a16="http://schemas.microsoft.com/office/drawing/2014/main" id="{21CAEF43-12C5-48CF-BF2C-CC5612BA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EDEA5B-E05C-40E3-9206-FF34062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7a8be0ff34ca5"/>
          <a:stretch xmlns:a="http://schemas.openxmlformats.org/drawingml/2006/main"/>
        </p:blipFill>
        <p:spPr>
          <a:xfrm xmlns:a="http://schemas.openxmlformats.org/drawingml/2006/main">
            <a:off x="523398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87FD7E-E326-4F8F-9CA7-C05A18A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MySQL 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8CB84A7-D41F-44C9-8B52-9EFFB277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ech-Redis 7">
            <a:extLst xmlns:a="http://schemas.openxmlformats.org/drawingml/2006/main">
              <a:ext uri="{FF2B5EF4-FFF2-40B4-BE49-F238E27FC236}">
                <a16:creationId xmlns:a16="http://schemas.microsoft.com/office/drawing/2014/main" id="{7FD71158-4272-4267-BCDB-F36CF363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1C75D9-82B3-40B0-99C5-66C9704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7d04440b64a93"/>
          <a:stretch xmlns:a="http://schemas.openxmlformats.org/drawingml/2006/main"/>
        </p:blipFill>
        <p:spPr>
          <a:xfrm xmlns:a="http://schemas.openxmlformats.org/drawingml/2006/main">
            <a:off x="635793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D8F664-7BD4-490F-B512-2171269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Redis 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F7B662-8FA8-435C-8DFF-65C5A197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2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ch-Vue 3">
            <a:extLst xmlns:a="http://schemas.openxmlformats.org/drawingml/2006/main">
              <a:ext uri="{FF2B5EF4-FFF2-40B4-BE49-F238E27FC236}">
                <a16:creationId xmlns:a16="http://schemas.microsoft.com/office/drawing/2014/main" id="{2F10763F-9482-4AC0-B495-4CCF920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F916BF-CC62-486F-A03B-62C7FE0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34c14e2794aa7"/>
          <a:stretch xmlns:a="http://schemas.openxmlformats.org/drawingml/2006/main"/>
        </p:blipFill>
        <p:spPr>
          <a:xfrm xmlns:a="http://schemas.openxmlformats.org/drawingml/2006/main">
            <a:off x="748188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587E40-9BD4-40D9-ABB7-5946244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Vue 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493E90-1B38-42B6-AE4E-CEE7FD2A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ech-TypeScript">
            <a:extLst xmlns:a="http://schemas.openxmlformats.org/drawingml/2006/main">
              <a:ext uri="{FF2B5EF4-FFF2-40B4-BE49-F238E27FC236}">
                <a16:creationId xmlns:a16="http://schemas.microsoft.com/office/drawing/2014/main" id="{C2FF2298-F172-49E7-9EDF-2083D925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11EF50-0D0F-42AD-976A-EEC44334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aec6e476e4491"/>
          <a:stretch xmlns:a="http://schemas.openxmlformats.org/drawingml/2006/main"/>
        </p:blipFill>
        <p:spPr>
          <a:xfrm xmlns:a="http://schemas.openxmlformats.org/drawingml/2006/main">
            <a:off x="860583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C4E6B3-5C38-41D8-880E-F9C8E7F9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4363605-4C18-4DDF-945A-9040AB91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6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ech-Tiptap">
            <a:extLst xmlns:a="http://schemas.openxmlformats.org/drawingml/2006/main">
              <a:ext uri="{FF2B5EF4-FFF2-40B4-BE49-F238E27FC236}">
                <a16:creationId xmlns:a16="http://schemas.microsoft.com/office/drawing/2014/main" id="{5CE5C861-9180-4634-B11E-9CF588C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535DF88-9C77-43DB-8F99-B6E27DB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63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cab21eec24761"/>
          <a:stretch xmlns:a="http://schemas.openxmlformats.org/drawingml/2006/main"/>
        </p:blipFill>
        <p:spPr>
          <a:xfrm xmlns:a="http://schemas.openxmlformats.org/drawingml/2006/main">
            <a:off x="9729788" y="5057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6A54056-2B70-4136-AE0F-31D6FE5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Tiptap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57A8930-90E1-4E26-80CD-5F79FC2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ch-DeepSeek">
            <a:extLst xmlns:a="http://schemas.openxmlformats.org/drawingml/2006/main">
              <a:ext uri="{FF2B5EF4-FFF2-40B4-BE49-F238E27FC236}">
                <a16:creationId xmlns:a16="http://schemas.microsoft.com/office/drawing/2014/main" id="{45F8C734-4F23-4EB8-A1CD-419AC4B1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76800"/>
            <a:ext cx="1038225" cy="11620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4F5F6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C93265-D44E-4884-88B7-D664A6DC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5000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58ff0b6d24e3c">
            <a:extLst>
              <a:ext uri="{96DAC541-7B7A-43D3-8B79-37D633B846F1}">
                <asvg:svgBlip xmlns:asvg="http://schemas.microsoft.com/office/drawing/2016/SVG/main" r:embed="R189daa630fee47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01363" y="5105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AA75920-779B-4F74-9391-CE55082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245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C054F79-CAD8-4D9A-9D3F-E0B54B02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838825"/>
            <a:ext cx="2762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5A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1257839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2026-09-13T08:21:44.4080000Z</dcterms:created>
  <dcterms:modified xsi:type="dcterms:W3CDTF">2026-09-13T08:21:44.4080000Z</dcterms:modified>
</coreProperties>
</file>