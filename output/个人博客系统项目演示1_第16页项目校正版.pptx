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gif" ContentType="image/gif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27770e74574d2e" /><Relationship Type="http://schemas.openxmlformats.org/officeDocument/2006/relationships/extended-properties" Target="/docProps/app.xml" Id="Rcedc28e8dd994c00" /><Relationship Type="http://schemas.openxmlformats.org/officeDocument/2006/relationships/officeDocument" Target="/ppt/presentation.xml" Id="Rdc6832cea03a4b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4b822fbbcb4375"/>
    <p:sldMasterId xmlns:r="http://schemas.openxmlformats.org/officeDocument/2006/relationships" id="2147483660" r:id="R976ff76278bc43b3"/>
  </p:sldMasterIdLst>
  <p:notesMasterIdLst>
    <p:notesMasterId xmlns:r="http://schemas.openxmlformats.org/officeDocument/2006/relationships" r:id="Rd09e68f099a24870"/>
  </p:notesMasterIdLst>
  <p:sldIdLst>
    <p:sldId xmlns:r="http://schemas.openxmlformats.org/officeDocument/2006/relationships" id="256" r:id="R896dce497fc341be"/>
    <p:sldId xmlns:r="http://schemas.openxmlformats.org/officeDocument/2006/relationships" id="257" r:id="R7c77441043284de4"/>
    <p:sldId xmlns:r="http://schemas.openxmlformats.org/officeDocument/2006/relationships" id="258" r:id="R5921506adc394635"/>
    <p:sldId xmlns:r="http://schemas.openxmlformats.org/officeDocument/2006/relationships" id="259" r:id="R07d1475076db4d1f"/>
    <p:sldId xmlns:r="http://schemas.openxmlformats.org/officeDocument/2006/relationships" id="260" r:id="R47f03a0b45424291"/>
    <p:sldId xmlns:r="http://schemas.openxmlformats.org/officeDocument/2006/relationships" id="261" r:id="R2d85a87f407848e2"/>
    <p:sldId xmlns:r="http://schemas.openxmlformats.org/officeDocument/2006/relationships" id="262" r:id="R7f35fab59ef64327"/>
    <p:sldId xmlns:r="http://schemas.openxmlformats.org/officeDocument/2006/relationships" id="263" r:id="R522852afbb084294"/>
    <p:sldId xmlns:r="http://schemas.openxmlformats.org/officeDocument/2006/relationships" id="264" r:id="R27ce1f9a4d894dca"/>
    <p:sldId xmlns:r="http://schemas.openxmlformats.org/officeDocument/2006/relationships" id="265" r:id="R972711f18dc547ef"/>
    <p:sldId xmlns:r="http://schemas.openxmlformats.org/officeDocument/2006/relationships" id="266" r:id="R6e5bd355849d49d6"/>
    <p:sldId xmlns:r="http://schemas.openxmlformats.org/officeDocument/2006/relationships" id="267" r:id="R95ccce0df2c7446d"/>
    <p:sldId xmlns:r="http://schemas.openxmlformats.org/officeDocument/2006/relationships" id="268" r:id="Rd41e4f9798684b87"/>
    <p:sldId xmlns:r="http://schemas.openxmlformats.org/officeDocument/2006/relationships" id="269" r:id="R87cdbd44b2ec417d"/>
    <p:sldId xmlns:r="http://schemas.openxmlformats.org/officeDocument/2006/relationships" id="270" r:id="R4a8660ce453f48b5"/>
    <p:sldId xmlns:r="http://schemas.openxmlformats.org/officeDocument/2006/relationships" id="271" r:id="Rfd24b4c04c1046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6fa5cddd2a43a9" /><Relationship Type="http://schemas.openxmlformats.org/officeDocument/2006/relationships/slideMaster" Target="/ppt/slideMasters/slideMaster1.xml" Id="R674b822fbbcb4375" /><Relationship Type="http://schemas.openxmlformats.org/officeDocument/2006/relationships/slideMaster" Target="/ppt/slideMasters/slideMaster2.xml" Id="R976ff76278bc43b3" /><Relationship Type="http://schemas.openxmlformats.org/officeDocument/2006/relationships/notesMaster" Target="/ppt/notesMasters/notesMaster1.xml" Id="Rd09e68f099a24870" /><Relationship Type="http://schemas.openxmlformats.org/officeDocument/2006/relationships/presProps" Target="/ppt/presProps.xml" Id="R2932b2a56c9742a9" /><Relationship Type="http://schemas.openxmlformats.org/officeDocument/2006/relationships/viewProps" Target="/ppt/viewProps.xml" Id="R678c8d49d96749c3" /><Relationship Type="http://schemas.openxmlformats.org/officeDocument/2006/relationships/tableStyles" Target="/ppt/tableStyles.xml" Id="R93281f90d700404e" /><Relationship Type="http://schemas.openxmlformats.org/officeDocument/2006/relationships/slide" Target="/ppt/slides/slide1.xml" Id="R896dce497fc341be" /><Relationship Type="http://schemas.openxmlformats.org/officeDocument/2006/relationships/slide" Target="/ppt/slides/slide2.xml" Id="R7c77441043284de4" /><Relationship Type="http://schemas.openxmlformats.org/officeDocument/2006/relationships/slide" Target="/ppt/slides/slide3.xml" Id="R5921506adc394635" /><Relationship Type="http://schemas.openxmlformats.org/officeDocument/2006/relationships/slide" Target="/ppt/slides/slide4.xml" Id="R07d1475076db4d1f" /><Relationship Type="http://schemas.openxmlformats.org/officeDocument/2006/relationships/slide" Target="/ppt/slides/slide5.xml" Id="R47f03a0b45424291" /><Relationship Type="http://schemas.openxmlformats.org/officeDocument/2006/relationships/slide" Target="/ppt/slides/slide6.xml" Id="R2d85a87f407848e2" /><Relationship Type="http://schemas.openxmlformats.org/officeDocument/2006/relationships/slide" Target="/ppt/slides/slide7.xml" Id="R7f35fab59ef64327" /><Relationship Type="http://schemas.openxmlformats.org/officeDocument/2006/relationships/slide" Target="/ppt/slides/slide8.xml" Id="R522852afbb084294" /><Relationship Type="http://schemas.openxmlformats.org/officeDocument/2006/relationships/slide" Target="/ppt/slides/slide9.xml" Id="R27ce1f9a4d894dca" /><Relationship Type="http://schemas.openxmlformats.org/officeDocument/2006/relationships/slide" Target="/ppt/slides/slide10.xml" Id="R972711f18dc547ef" /><Relationship Type="http://schemas.openxmlformats.org/officeDocument/2006/relationships/slide" Target="/ppt/slides/slide11.xml" Id="R6e5bd355849d49d6" /><Relationship Type="http://schemas.openxmlformats.org/officeDocument/2006/relationships/slide" Target="/ppt/slides/slide12.xml" Id="R95ccce0df2c7446d" /><Relationship Type="http://schemas.openxmlformats.org/officeDocument/2006/relationships/slide" Target="/ppt/slides/slide13.xml" Id="Rd41e4f9798684b87" /><Relationship Type="http://schemas.openxmlformats.org/officeDocument/2006/relationships/slide" Target="/ppt/slides/slide14.xml" Id="R87cdbd44b2ec417d" /><Relationship Type="http://schemas.openxmlformats.org/officeDocument/2006/relationships/slide" Target="/ppt/slides/slide15.xml" Id="R4a8660ce453f48b5" /><Relationship Type="http://schemas.openxmlformats.org/officeDocument/2006/relationships/slide" Target="/ppt/slides/slide16.xml" Id="Rfd24b4c04c1046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42fa129fc1414d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36ecc845064cb9" /><Relationship Type="http://schemas.openxmlformats.org/officeDocument/2006/relationships/notesMaster" Target="/ppt/notesMasters/notesMaster1.xml" Id="Rb95ee029dfc744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a5e46fc9f1401a" /><Relationship Type="http://schemas.openxmlformats.org/officeDocument/2006/relationships/notesMaster" Target="/ppt/notesMasters/notesMaster1.xml" Id="Rb7fc8ea3409641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6fbe4fddf6493c" /><Relationship Type="http://schemas.openxmlformats.org/officeDocument/2006/relationships/notesMaster" Target="/ppt/notesMasters/notesMaster1.xml" Id="Rb003e8f46bfe45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bb9419dd5a455d" /><Relationship Type="http://schemas.openxmlformats.org/officeDocument/2006/relationships/notesMaster" Target="/ppt/notesMasters/notesMaster1.xml" Id="R5be51bdb9d9443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a951536cfa4c28" /><Relationship Type="http://schemas.openxmlformats.org/officeDocument/2006/relationships/notesMaster" Target="/ppt/notesMasters/notesMaster1.xml" Id="R02ae934f94e344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3ec2d309714fa1" /><Relationship Type="http://schemas.openxmlformats.org/officeDocument/2006/relationships/notesMaster" Target="/ppt/notesMasters/notesMaster1.xml" Id="R51d5c7738e994d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f4bc4490874cf5" /><Relationship Type="http://schemas.openxmlformats.org/officeDocument/2006/relationships/notesMaster" Target="/ppt/notesMasters/notesMaster1.xml" Id="R584e9044310844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c79acfc8c842d0" /><Relationship Type="http://schemas.openxmlformats.org/officeDocument/2006/relationships/notesMaster" Target="/ppt/notesMasters/notesMaster1.xml" Id="R2a3a728380b44a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a36272b6e84d82" /><Relationship Type="http://schemas.openxmlformats.org/officeDocument/2006/relationships/notesMaster" Target="/ppt/notesMasters/notesMaster1.xml" Id="R5ad208ba50314f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ebd6e1b29842ce" /><Relationship Type="http://schemas.openxmlformats.org/officeDocument/2006/relationships/notesMaster" Target="/ppt/notesMasters/notesMaster1.xml" Id="R746f03edb8d245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262c6224d745d9" /><Relationship Type="http://schemas.openxmlformats.org/officeDocument/2006/relationships/notesMaster" Target="/ppt/notesMasters/notesMaster1.xml" Id="R25d34ff549354a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3260d8eb2b4586" /><Relationship Type="http://schemas.openxmlformats.org/officeDocument/2006/relationships/notesMaster" Target="/ppt/notesMasters/notesMaster1.xml" Id="R41316cdfe62043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89f2d6bfd04c35" /><Relationship Type="http://schemas.openxmlformats.org/officeDocument/2006/relationships/notesMaster" Target="/ppt/notesMasters/notesMaster1.xml" Id="R1acecc808aa145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babd400a8142fb" /><Relationship Type="http://schemas.openxmlformats.org/officeDocument/2006/relationships/notesMaster" Target="/ppt/notesMasters/notesMaster1.xml" Id="R0a5910c18e394f3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82b145fe9a24146" /><Relationship Type="http://schemas.openxmlformats.org/officeDocument/2006/relationships/notesMaster" Target="/ppt/notesMasters/notesMaster1.xml" Id="R0c33693ec6fc466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e3e4e03c5ee44f0" /><Relationship Type="http://schemas.openxmlformats.org/officeDocument/2006/relationships/notesMaster" Target="/ppt/notesMasters/notesMaster1.xml" Id="R5be2a5abc5b44a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大家好，欢迎参加本次个人博客系统项目的演示。今天，我将向大家详细介绍这个项目的背景、设计理念、核心功能以及我们在技术上的创新点。这个项目不仅是一个功能完整的博客平台，更是我们对现代Web技术栈实践与探索的结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本次演示将分为四个部分。首先，我们会探讨项目的背景，了解我们为什么要做这个系统。接着，将深入介绍我们的设计理念，包括架构思想和用户体验目标。然后，我会带大家全面了解系统的核心功能。最后，将重点展示我们在技术上的创新和亮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首先，让我们进入第一部分：项目背景。在这一章，我们将探讨为什么要开发一个独立的个人博客系统，它的目标和意义是什么，以及我们希望通过这个项目解决哪些实际问题。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我们的核心目标是打造一个完全自主可控的个人博客平台。正如大家在右侧看到的UI设计，我们追求的是一种简洁而富有质感的视觉体验。通过自建系统，作者可以真正拥有自己的内容和数据，实现从创作到阅读的全流程掌控，这对于技术总结和观点记录至关重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具体来说，我们希望解决三个核心问题。第一，内容自主权问题，让创作者真正拥有自己的作品。第二，这是一个绝佳的技术实践机会，让我们能深入学习和应用当前主流的前后端技术。第三，也是一个关键的工程挑战，我们要解决网络不稳定或用户误操作导致的数据一致性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首先，让我们进入第一部分：项目背景。在这一章，我们将探讨为什么要开发一个独立的个人博客系统，它的目标和意义是什么，以及我们希望通过这个项目解决哪些实际问题。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我们的设计核心思想主要有四点。首先是彻底的前后端分离架构，这让前后端团队可以并行开发，极大地提升了效率。其次，我们对用户角色进行了清晰的划分，保证了系统的安全性。第三，我们坚持聚焦核心功能，确保写作和阅读体验的极致。最后，我们非常注重工程化实践，为项目的未来发展打下坚实基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在用户体验方面，我们设定了四个主要目标。正如大家在右侧看到的另一版UI设计，无论是深色还是浅色模式，我们都追求清晰、舒适的阅读体验。同时，后台管理要足够便捷，内容检索要足够高效，并且每一个操作都要有清晰的反馈，让用户始终掌控全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首先，让我们进入第一部分：项目背景。在这一章，我们将探讨为什么要开发一个独立的个人博客系统，它的目标和意义是什么，以及我们希望通过这个项目解决哪些实际问题。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博客前台主要包含三大功能模块。首先是文章展示，用户可以浏览文章列表和详情。其次是分类与标签系统，帮助用户快速找到感兴趣的内容。最后是完整的用户功能，包括注册、登录和个人中心，为后续的互动功能打下基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博客前台主要包含三大功能模块。首先是文章展示，用户可以浏览文章列表和详情。其次是分类与标签系统，帮助用户快速找到感兴趣的内容。最后是完整的用户功能，包括注册、登录和个人中心，为后续的互动功能打下基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这一页是我们的功能演示预留区。在实际演示中，我们会在这里播放一段GIF动画，直观地展示文章从创作、发布到前台展示的完整流程，以及后台数据看板的实时效果，让大家对系统的实际操作有更直观的感受。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首先，让我们进入第一部分：项目背景。在这一章，我们将探讨为什么要开发一个独立的个人博客系统，它的目标和意义是什么，以及我们希望通过这个项目解决哪些实际问题。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本次项目的核心技术亮点，是我们基于策略模式与Redis实现的接口幂等性校验机制。简单来说，就是为每个写操作请求分配一个唯一的ID。服务端通过这个ID来判断请求是否已经处理过，从而避免了因网络抖动或用户重复点击导致的数据重复问题。这不仅保证了数据一致性，也极大地提升了用户体验和系统的健壮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我们的技术栈紧跟主流。后端采用最新的SpringBoot 3和Java 17，保证了性能和未来的兼容性。前端则使用Vue 3和TypeScript，实现了高效的组件化开发。数据库选用MySQL，缓存使用Redis。整个架构实现了彻底的前后端分离和无状态认证，为系统的横向扩展提供了可能。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我的演示到此结束。感谢大家的聆听。这个个人博客系统是我们技术热情与工程实践的结合，我们相信它不仅是一个产品，更是一个持续进化的技术平台。谢谢大家！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c54d585f7342e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5a6d2f6fed468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9d699c482a4f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647696d120427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9dbf15a170449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86788355a24e8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6052b887d943f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f87366894d4d0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1decf22094459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4ae401e69b40e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58351e877b440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8167252bb7e4f7b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6F0739D4-4AD1-478A-AB88-F7B7BBCAFAA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>
                <a:latin typeface="微软雅黑"/>
                <a:ea typeface="微软雅黑"/>
                <a:cs typeface="微软雅黑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C2D8EA26-72A6-44C4-881E-DB1BF2F91E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微软雅黑"/>
                <a:ea typeface="微软雅黑"/>
                <a:cs typeface="微软雅黑"/>
              </a:defRPr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E6B34F73-DF2D-4FDC-8CAF-7C1356B251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C59F7CA8-CF37-4063-8A13-3DBD9459B9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78A54B58-2E25-4BC9-BD8A-37E072A5F0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AA8BCA36-FE8F-4B1F-9018-102B494C0E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0CE7A010-4C88-43C0-9618-36F656F5BF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/>
                <a:ea typeface="微软雅黑"/>
                <a:cs typeface="微软雅黑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FDB4340-D33F-44E7-BDFA-2F1DCBCEA7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4661B514-DAC4-4174-AEF7-D41F0BA287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634CDDE3-529C-478D-A95E-D763DA263F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E445C02-F714-4D2B-852E-2A87AD2617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>
                <a:latin typeface="微软雅黑"/>
                <a:ea typeface="微软雅黑"/>
                <a:cs typeface="微软雅黑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996F30B2-B9EC-410A-9E23-24B479FD3A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  <a:latin typeface="微软雅黑"/>
                <a:ea typeface="微软雅黑"/>
                <a:cs typeface="微软雅黑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D8ECF1A-B345-47FD-8EEA-B39F772823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80A2B61A-2ABB-4A41-89BA-D91C2F2E3F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5FA2BA3D-C560-4FF1-9E8A-27D4A1995C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1DA8606C-0CE5-4F7B-8090-7D18B04230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482DF01B-1962-4D2E-B0B9-85AC8158FE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/>
                <a:ea typeface="微软雅黑"/>
                <a:cs typeface="微软雅黑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AEB828DD-6B43-4100-9B32-FEE965D72B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/>
                <a:ea typeface="微软雅黑"/>
                <a:cs typeface="微软雅黑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EC64E8B3-313D-4A25-9C2E-9BF9123281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BAE80B7F-ECC6-4E1C-AFA7-2257AA55B4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C3EA3F91-3020-436D-9160-79B1FF9DA0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74C070E0-EBD8-4383-BC63-BDF34A5638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6A7C75CD-AD58-41AD-987F-4A181F1375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微软雅黑"/>
                <a:ea typeface="微软雅黑"/>
                <a:cs typeface="微软雅黑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>
            <a:endParaRPr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44F3A7FE-FE5A-4A23-B9A9-D41C4246CD8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/>
                <a:ea typeface="微软雅黑"/>
                <a:cs typeface="微软雅黑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753C9FD2-9770-4333-B920-E1249D162FE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微软雅黑"/>
                <a:ea typeface="微软雅黑"/>
                <a:cs typeface="微软雅黑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>
            <a:endParaRPr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4752B2E0-5364-492B-89C2-F58D1D12D15C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/>
                <a:ea typeface="微软雅黑"/>
                <a:cs typeface="微软雅黑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B323AE5A-6CC6-42EF-A962-18DB0DDE53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218F4265-1477-469F-B047-A2013B2EA2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D9B1DECF-329B-4218-964E-AA264EC001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02B4632F-E09B-40DB-A98B-FDFF43E877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EF70AEE7-CF2F-404F-A42C-29F8AA9EE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11881B84-38F9-46AE-A240-24E479FE7B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AA557F26-FB6E-4A3B-9A75-B917837D04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18614A69-97A7-40B3-B6D6-3E42D9DA74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3F2F8D57-B746-4504-A5ED-08BE7C9111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E455B416-1656-4091-8BA3-29E483EDF4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42EBB5BB-7102-4CE3-9AE9-5F01BBC2D6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latin typeface="微软雅黑"/>
                <a:ea typeface="微软雅黑"/>
                <a:cs typeface="微软雅黑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8A13953C-44C3-4C67-A7C0-BD2669D068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微软雅黑"/>
                <a:ea typeface="微软雅黑"/>
                <a:cs typeface="微软雅黑"/>
              </a:defRPr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>
            <a:endParaRPr/>
          </a:p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5E7FD6AB-F062-4D03-9E28-018F48E9546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微软雅黑"/>
                <a:ea typeface="微软雅黑"/>
                <a:cs typeface="微软雅黑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>
            <a:endParaRPr/>
          </a:p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976EA793-BEC1-417E-8736-F4BE697ED0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E0574996-294C-472A-8BD5-09DA7E43F3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695DB020-D4E2-442F-9642-EB138BA98D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66F8E0A0-A74E-4846-B917-5DC0228CF1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latin typeface="微软雅黑"/>
                <a:ea typeface="微软雅黑"/>
                <a:cs typeface="微软雅黑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AC5F101E-80DB-453B-95D5-5D483D2DF4F2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69E345B6-BF6B-4640-A56E-4646052AAA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微软雅黑"/>
                <a:ea typeface="微软雅黑"/>
                <a:cs typeface="微软雅黑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>
            <a:endParaRPr/>
          </a:p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950E45F3-870A-4062-A2B5-DFA3BB8B69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1D88F0F5-E96D-4712-A801-5D32E8E37B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AE744C8F-01AF-4612-B092-6CA60F1FE6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FEFFC12E-D1E7-43F9-9626-C0E98AE416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61C15F60-FE5A-4AA9-8E1C-CFD0F9889E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/>
                <a:ea typeface="微软雅黑"/>
                <a:cs typeface="微软雅黑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0B3180D5-9263-4813-8716-F0D1F38A20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7CA27A6C-E71D-40C3-B1ED-5D6B6CB3BA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303D2783-E677-4E39-8C24-6C7F36BC29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94AE47DD-B33B-4CBE-9351-3521450E20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CD3FE4F6-E7D2-43C2-90EF-3BFFDE4E78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/>
                <a:ea typeface="微软雅黑"/>
                <a:cs typeface="微软雅黑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1934F33-EEDE-420E-8388-E6357D8E9D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D9D84639-3C45-4622-89BA-EEF1D3684E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0F983753-51F9-43ED-8B94-A743182694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7e740de073154a82" /><Relationship Type="http://schemas.openxmlformats.org/officeDocument/2006/relationships/theme" Target="/ppt/slideMasters/theme/theme2.xml" Id="R0d235229de7d4563" /><Relationship Type="http://schemas.openxmlformats.org/officeDocument/2006/relationships/slideLayout" Target="/ppt/slideLayouts/slideLayout1.xml" Id="Rbae53d5071f54dfa" /><Relationship Type="http://schemas.openxmlformats.org/officeDocument/2006/relationships/slideLayout" Target="/ppt/slideLayouts/slideLayout2.xml" Id="R71857b9d644c4ded" /><Relationship Type="http://schemas.openxmlformats.org/officeDocument/2006/relationships/slideLayout" Target="/ppt/slideLayouts/slideLayout3.xml" Id="Rd38a25f444304aee" /><Relationship Type="http://schemas.openxmlformats.org/officeDocument/2006/relationships/slideLayout" Target="/ppt/slideLayouts/slideLayout4.xml" Id="Redaae3db56714f23" /><Relationship Type="http://schemas.openxmlformats.org/officeDocument/2006/relationships/slideLayout" Target="/ppt/slideLayouts/slideLayout5.xml" Id="Rbbf50ad8c4a34ef3" /><Relationship Type="http://schemas.openxmlformats.org/officeDocument/2006/relationships/slideLayout" Target="/ppt/slideLayouts/slideLayout6.xml" Id="R2d4499c349b74bb1" /><Relationship Type="http://schemas.openxmlformats.org/officeDocument/2006/relationships/slideLayout" Target="/ppt/slideLayouts/slideLayout7.xml" Id="R09ae3439a908429a" /><Relationship Type="http://schemas.openxmlformats.org/officeDocument/2006/relationships/slideLayout" Target="/ppt/slideLayouts/slideLayout8.xml" Id="R1ed6252f8509446e" /><Relationship Type="http://schemas.openxmlformats.org/officeDocument/2006/relationships/slideLayout" Target="/ppt/slideLayouts/slideLayout9.xml" Id="Reec76a3eb45a49dc" /><Relationship Type="http://schemas.openxmlformats.org/officeDocument/2006/relationships/slideLayout" Target="/ppt/slideLayouts/slideLayout10.xml" Id="R231b06556ef14632" /><Relationship Type="http://schemas.openxmlformats.org/officeDocument/2006/relationships/slideLayout" Target="/ppt/slideLayouts/slideLayout11.xml" Id="Rd97a1008ac2e433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eaa5c205403d4fa6" /><Relationship Type="http://schemas.openxmlformats.org/officeDocument/2006/relationships/theme" Target="/ppt/slideMasters/theme/theme3.xml" Id="Re12953bb0b904981" /><Relationship Type="http://schemas.openxmlformats.org/officeDocument/2006/relationships/slideLayout" Target="/ppt/slideLayouts/slideLayout12.xml" Id="R109bd0600ca94865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e740de073154a82">
            <a:lum/>
          </a:blip>
          <a:srcRect l="0" t="0" r="0" b="0"/>
          <a:stretch>
            <a:fillRect l="-7000" t="0" r="-700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80FC4D5D-F629-46C0-BAAD-A7ED1F5CE5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>
            <a:endParaRPr/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8850681B-2DA9-4D2F-BBC2-6C53BD61DA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8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482C22F8-EAB3-40B8-A240-44E6AB2368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微软雅黑"/>
                <a:ea typeface="微软雅黑"/>
                <a:cs typeface="微软雅黑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AC8A3ADB-0CAB-44EE-804D-FA119D37E7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微软雅黑"/>
                <a:ea typeface="微软雅黑"/>
                <a:cs typeface="微软雅黑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BF8BFFEE-D1F5-482C-8062-8C6BCA95DE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微软雅黑"/>
                <a:ea typeface="微软雅黑"/>
                <a:cs typeface="微软雅黑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e53d5071f54dfa"/>
    <p:sldLayoutId xmlns:r="http://schemas.openxmlformats.org/officeDocument/2006/relationships" id="2147483650" r:id="R71857b9d644c4ded"/>
    <p:sldLayoutId xmlns:r="http://schemas.openxmlformats.org/officeDocument/2006/relationships" id="2147483651" r:id="Rd38a25f444304aee"/>
    <p:sldLayoutId xmlns:r="http://schemas.openxmlformats.org/officeDocument/2006/relationships" id="2147483652" r:id="Redaae3db56714f23"/>
    <p:sldLayoutId xmlns:r="http://schemas.openxmlformats.org/officeDocument/2006/relationships" id="2147483653" r:id="Rbbf50ad8c4a34ef3"/>
    <p:sldLayoutId xmlns:r="http://schemas.openxmlformats.org/officeDocument/2006/relationships" id="2147483654" r:id="R2d4499c349b74bb1"/>
    <p:sldLayoutId xmlns:r="http://schemas.openxmlformats.org/officeDocument/2006/relationships" id="2147483655" r:id="R09ae3439a908429a"/>
    <p:sldLayoutId xmlns:r="http://schemas.openxmlformats.org/officeDocument/2006/relationships" id="2147483656" r:id="R1ed6252f8509446e"/>
    <p:sldLayoutId xmlns:r="http://schemas.openxmlformats.org/officeDocument/2006/relationships" id="2147483657" r:id="Reec76a3eb45a49dc"/>
    <p:sldLayoutId xmlns:r="http://schemas.openxmlformats.org/officeDocument/2006/relationships" id="2147483658" r:id="R231b06556ef14632"/>
    <p:sldLayoutId xmlns:r="http://schemas.openxmlformats.org/officeDocument/2006/relationships" id="2147483659" r:id="Rd97a1008ac2e433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aa5c205403d4fa6">
            <a:lum/>
          </a:blip>
          <a:srcRect l="0" t="0" r="0" b="0"/>
          <a:stretch>
            <a:fillRect l="-7000" t="0" r="-700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109bd0600ca94865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94f7870a45e4d1d" /><Relationship Type="http://schemas.openxmlformats.org/officeDocument/2006/relationships/image" Target="/ppt/media/image2.png" Id="R5e6153f9f87c496c" /><Relationship Type="http://schemas.openxmlformats.org/officeDocument/2006/relationships/notesSlide" Target="/ppt/notesSlides/notesSlide1.xml" Id="Rae608e741f3346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b1c297e728a44c1" /><Relationship Type="http://schemas.openxmlformats.org/officeDocument/2006/relationships/notesSlide" Target="/ppt/notesSlides/notesSlide2.xml" Id="R75da692a08be4f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ef8cf267b114258" /><Relationship Type="http://schemas.openxmlformats.org/officeDocument/2006/relationships/notesSlide" Target="/ppt/notesSlides/notesSlide3.xml" Id="Ra4a38cfa79bf46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0dfc69ce4bf47ce" /><Relationship Type="http://schemas.openxmlformats.org/officeDocument/2006/relationships/image" Target="/ppt/media/image3.png" Id="R10fd1ffc74494ebd" /><Relationship Type="http://schemas.openxmlformats.org/officeDocument/2006/relationships/notesSlide" Target="/ppt/notesSlides/notesSlide4.xml" Id="R6a788fbfed9d4e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292a3cc02c84e34" /><Relationship Type="http://schemas.openxmlformats.org/officeDocument/2006/relationships/image" Target="/ppt/media/image.gif" Id="R934693d69685436e" /><Relationship Type="http://schemas.openxmlformats.org/officeDocument/2006/relationships/image" Target="/ppt/media/image.svg" Id="Re37dff59cbaa41c8" /><Relationship Type="http://schemas.openxmlformats.org/officeDocument/2006/relationships/image" Target="/ppt/media/image2.svg" Id="Ra2adf1f6d9c543a4" /><Relationship Type="http://schemas.openxmlformats.org/officeDocument/2006/relationships/image" Target="/ppt/media/image2.png" Id="Rf0e054c7fb424732" /><Relationship Type="http://schemas.openxmlformats.org/officeDocument/2006/relationships/image" Target="/ppt/media/image3.svg" Id="Re7f5f6783a314b03" /><Relationship Type="http://schemas.openxmlformats.org/officeDocument/2006/relationships/image" Target="/ppt/media/image3.png" Id="R1f3ee49681d24f5c" /><Relationship Type="http://schemas.openxmlformats.org/officeDocument/2006/relationships/notesSlide" Target="/ppt/notesSlides/notesSlide5.xml" Id="R02160ac89c6541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2a22c0d67e44909" /><Relationship Type="http://schemas.openxmlformats.org/officeDocument/2006/relationships/notesSlide" Target="/ppt/notesSlides/notesSlide6.xml" Id="R6188e5b6a96244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5cad1e8a3c3412a" /><Relationship Type="http://schemas.openxmlformats.org/officeDocument/2006/relationships/image" Target="/ppt/media/image.jpeg" Id="Rdff58883fc724883" /><Relationship Type="http://schemas.openxmlformats.org/officeDocument/2006/relationships/notesSlide" Target="/ppt/notesSlides/notesSlide7.xml" Id="R0ed3633e9ad84c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3f133452a504e28" /><Relationship Type="http://schemas.openxmlformats.org/officeDocument/2006/relationships/notesSlide" Target="/ppt/notesSlides/notesSlide8.xml" Id="R93c3e7dbb9fe43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9eed0cd2c884939" /><Relationship Type="http://schemas.openxmlformats.org/officeDocument/2006/relationships/notesSlide" Target="/ppt/notesSlides/notesSlide9.xml" Id="Ra1e8aa9403ab49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a769092fd854603" /><Relationship Type="http://schemas.openxmlformats.org/officeDocument/2006/relationships/image" Target="/ppt/media/image4.png" Id="R28237f6154804d11" /><Relationship Type="http://schemas.openxmlformats.org/officeDocument/2006/relationships/image" Target="/ppt/media/image5.png" Id="R0ff43d8cb5924f29" /><Relationship Type="http://schemas.openxmlformats.org/officeDocument/2006/relationships/image" Target="/ppt/media/image6.png" Id="Raae730ae845349bc" /><Relationship Type="http://schemas.openxmlformats.org/officeDocument/2006/relationships/notesSlide" Target="/ppt/notesSlides/notesSlide10.xml" Id="Rc2e2c619939e43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de1ab70c25a4617" /><Relationship Type="http://schemas.openxmlformats.org/officeDocument/2006/relationships/image" Target="/ppt/media/image7.png" Id="R51470081578746e5" /><Relationship Type="http://schemas.openxmlformats.org/officeDocument/2006/relationships/image" Target="/ppt/media/image8.png" Id="Rf531a9f21a114d66" /><Relationship Type="http://schemas.openxmlformats.org/officeDocument/2006/relationships/image" Target="/ppt/media/image9.png" Id="Rb39a4041296e4ad1" /><Relationship Type="http://schemas.openxmlformats.org/officeDocument/2006/relationships/notesSlide" Target="/ppt/notesSlides/notesSlide11.xml" Id="Rd00b79bffdc349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a7d00bbdd384729" /><Relationship Type="http://schemas.openxmlformats.org/officeDocument/2006/relationships/image" Target="/ppt/media/image.gif" Id="R38560fab59944f58" /><Relationship Type="http://schemas.openxmlformats.org/officeDocument/2006/relationships/notesSlide" Target="/ppt/notesSlides/notesSlide12.xml" Id="R06499ff6a7fb4c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5624c73bd7c41c4" /><Relationship Type="http://schemas.openxmlformats.org/officeDocument/2006/relationships/notesSlide" Target="/ppt/notesSlides/notesSlide13.xml" Id="R783b1d10c3e6455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51749f0e4144267" /><Relationship Type="http://schemas.openxmlformats.org/officeDocument/2006/relationships/notesSlide" Target="/ppt/notesSlides/notesSlide14.xml" Id="Rc672c731dc25485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54d293addd14162" /><Relationship Type="http://schemas.openxmlformats.org/officeDocument/2006/relationships/image" Target="/ppt/media/image10.png" Id="R2ff8a39c542c4b63" /><Relationship Type="http://schemas.openxmlformats.org/officeDocument/2006/relationships/image" Target="/ppt/media/image11.png" Id="Rd09ad635cf21414b" /><Relationship Type="http://schemas.openxmlformats.org/officeDocument/2006/relationships/image" Target="/ppt/media/image12.png" Id="R95d91beda62342ff" /><Relationship Type="http://schemas.openxmlformats.org/officeDocument/2006/relationships/image" Target="/ppt/media/image13.png" Id="Rf8733564aaff4d60" /><Relationship Type="http://schemas.openxmlformats.org/officeDocument/2006/relationships/image" Target="/ppt/media/image14.png" Id="R8157727afb414e40" /><Relationship Type="http://schemas.openxmlformats.org/officeDocument/2006/relationships/image" Target="/ppt/media/image15.png" Id="R875d83d357704973" /><Relationship Type="http://schemas.openxmlformats.org/officeDocument/2006/relationships/image" Target="/ppt/media/image16.png" Id="R9b7f5d1ea4524649" /><Relationship Type="http://schemas.openxmlformats.org/officeDocument/2006/relationships/image" Target="/ppt/media/image17.png" Id="R1cad6c8a5c024e80" /><Relationship Type="http://schemas.openxmlformats.org/officeDocument/2006/relationships/notesSlide" Target="/ppt/notesSlides/notesSlide15.xml" Id="R0511079cffa545f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2f03d4bcf954e67" /><Relationship Type="http://schemas.openxmlformats.org/officeDocument/2006/relationships/image" Target="/ppt/media/image18.png" Id="R94055b6d21b34278" /><Relationship Type="http://schemas.openxmlformats.org/officeDocument/2006/relationships/image" Target="/ppt/media/image4.svg" Id="R47e61ba2bff94a6f" /><Relationship Type="http://schemas.openxmlformats.org/officeDocument/2006/relationships/image" Target="/ppt/media/image19.png" Id="R63393ee9c6564e88" /><Relationship Type="http://schemas.openxmlformats.org/officeDocument/2006/relationships/image" Target="/ppt/media/image5.svg" Id="R79cbda46f07f43b0" /><Relationship Type="http://schemas.openxmlformats.org/officeDocument/2006/relationships/image" Target="/ppt/media/image20.png" Id="Rc84c2a03ff274922" /><Relationship Type="http://schemas.openxmlformats.org/officeDocument/2006/relationships/image" Target="/ppt/media/image6.svg" Id="R7669eb1f0df841d5" /><Relationship Type="http://schemas.openxmlformats.org/officeDocument/2006/relationships/image" Target="/ppt/media/image21.png" Id="R36113dc4463f4289" /><Relationship Type="http://schemas.openxmlformats.org/officeDocument/2006/relationships/image" Target="/ppt/media/image7.svg" Id="Re60128945ec94f95" /><Relationship Type="http://schemas.openxmlformats.org/officeDocument/2006/relationships/image" Target="/ppt/media/image22.png" Id="R62955da3cb5a47e1" /><Relationship Type="http://schemas.openxmlformats.org/officeDocument/2006/relationships/image" Target="/ppt/media/image8.svg" Id="R5b42bcccb6e946ea" /><Relationship Type="http://schemas.openxmlformats.org/officeDocument/2006/relationships/image" Target="/ppt/media/image23.png" Id="Rc6de81753b7343c3" /><Relationship Type="http://schemas.openxmlformats.org/officeDocument/2006/relationships/image" Target="/ppt/media/image9.svg" Id="Ra854b01533a3410b" /><Relationship Type="http://schemas.openxmlformats.org/officeDocument/2006/relationships/image" Target="/ppt/media/image24.png" Id="R766d7af68ce0438c" /><Relationship Type="http://schemas.openxmlformats.org/officeDocument/2006/relationships/image" Target="/ppt/media/image10.svg" Id="R3ed1e03f707744ae" /><Relationship Type="http://schemas.openxmlformats.org/officeDocument/2006/relationships/image" Target="/ppt/media/image25.png" Id="R58032f90f00945bc" /><Relationship Type="http://schemas.openxmlformats.org/officeDocument/2006/relationships/image" Target="/ppt/media/image11.svg" Id="R1db351ded1974f65" /><Relationship Type="http://schemas.openxmlformats.org/officeDocument/2006/relationships/image" Target="/ppt/media/image26.png" Id="R9487003dfd6f4a75" /><Relationship Type="http://schemas.openxmlformats.org/officeDocument/2006/relationships/image" Target="/ppt/media/image12.svg" Id="R970dbe20cd494f3a" /><Relationship Type="http://schemas.openxmlformats.org/officeDocument/2006/relationships/image" Target="/ppt/media/image27.png" Id="R1c600957f0ab4fe9" /><Relationship Type="http://schemas.openxmlformats.org/officeDocument/2006/relationships/image" Target="/ppt/media/image13.svg" Id="Raa3265f676d34b61" /><Relationship Type="http://schemas.openxmlformats.org/officeDocument/2006/relationships/image" Target="/ppt/media/image28.png" Id="Rdf1f4499a8e34e3b" /><Relationship Type="http://schemas.openxmlformats.org/officeDocument/2006/relationships/image" Target="/ppt/media/image14.svg" Id="R91d58e6d0db24ef2" /><Relationship Type="http://schemas.openxmlformats.org/officeDocument/2006/relationships/image" Target="/ppt/media/image29.png" Id="R5f4a2cf2016f451e" /><Relationship Type="http://schemas.openxmlformats.org/officeDocument/2006/relationships/image" Target="/ppt/media/image15.svg" Id="Ra75d47b356eb4b79" /><Relationship Type="http://schemas.openxmlformats.org/officeDocument/2006/relationships/image" Target="/ppt/media/image30.png" Id="R98b33b850d35420d" /><Relationship Type="http://schemas.openxmlformats.org/officeDocument/2006/relationships/image" Target="/ppt/media/image31.png" Id="R0b449197a6f74266" /><Relationship Type="http://schemas.openxmlformats.org/officeDocument/2006/relationships/image" Target="/ppt/media/image32.png" Id="Rf375ed9a53ae43a8" /><Relationship Type="http://schemas.openxmlformats.org/officeDocument/2006/relationships/image" Target="/ppt/media/image16.svg" Id="R22ae8678e09a4209" /><Relationship Type="http://schemas.openxmlformats.org/officeDocument/2006/relationships/image" Target="/ppt/media/image33.png" Id="Re008f44054824862" /><Relationship Type="http://schemas.openxmlformats.org/officeDocument/2006/relationships/image" Target="/ppt/media/image34.png" Id="R2201e9a99df44ae6" /><Relationship Type="http://schemas.openxmlformats.org/officeDocument/2006/relationships/image" Target="/ppt/media/image35.png" Id="R4ca09f1413414f95" /><Relationship Type="http://schemas.openxmlformats.org/officeDocument/2006/relationships/image" Target="/ppt/media/image36.png" Id="R6043acebb5304dbe" /><Relationship Type="http://schemas.openxmlformats.org/officeDocument/2006/relationships/image" Target="/ppt/media/image17.svg" Id="Rb9feccaed310474e" /><Relationship Type="http://schemas.openxmlformats.org/officeDocument/2006/relationships/image" Target="/ppt/media/image37.png" Id="R6b060533966d4312" /><Relationship Type="http://schemas.openxmlformats.org/officeDocument/2006/relationships/image" Target="/ppt/media/image18.svg" Id="R5716aa825cba4a8e" /><Relationship Type="http://schemas.openxmlformats.org/officeDocument/2006/relationships/image" Target="/ppt/media/image38.png" Id="R861d9206ea384dd4" /><Relationship Type="http://schemas.openxmlformats.org/officeDocument/2006/relationships/image" Target="/ppt/media/image19.svg" Id="R8f1b6e84c36a4ab2" /><Relationship Type="http://schemas.openxmlformats.org/officeDocument/2006/relationships/image" Target="/ppt/media/image39.png" Id="R2be1d2b7f69b4114" /><Relationship Type="http://schemas.openxmlformats.org/officeDocument/2006/relationships/image" Target="/ppt/media/image40.png" Id="R5d6d552614524bd5" /><Relationship Type="http://schemas.openxmlformats.org/officeDocument/2006/relationships/image" Target="/ppt/media/image41.png" Id="Rece8fe7bd2694af3" /><Relationship Type="http://schemas.openxmlformats.org/officeDocument/2006/relationships/image" Target="/ppt/media/image20.svg" Id="R308851d287394913" /><Relationship Type="http://schemas.openxmlformats.org/officeDocument/2006/relationships/notesSlide" Target="/ppt/notesSlides/notesSlide16.xml" Id="R96ec555706dc4ad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B9B8D723-59AE-4007-BE14-06C00C16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5150"/>
            <a:ext cx="7072671" cy="2958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3000"/>
              </a:lnSpc>
              <a:buNone/>
            </a:pPr>
            <a:r>
              <a:rPr sz="4400" b="1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基于 </a:t>
            </a:r>
            <a:r>
              <a:rPr sz="4400" b="1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SpringBoot</a:t>
            </a:r>
            <a:r>
              <a:rPr sz="4400" b="1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4400" b="1" i="0" u="none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与前后端分离架构的个人博客系统</a:t>
            </a:r>
          </a:p>
          <a:p xmlns:a="http://schemas.openxmlformats.org/drawingml/2006/main">
            <a:pPr marL="0" indent="0" algn="l">
              <a:lnSpc>
                <a:spcPct val="93000"/>
              </a:lnSpc>
              <a:buNone/>
            </a:pPr>
            <a:endParaRPr sz="4400" b="1" i="0" u="none">
              <a:solidFill>
                <a:srgbClr val="2B2F36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endParaRPr sz="4400" b="1" i="0" u="none">
              <a:solidFill>
                <a:srgbClr val="2B2F3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4624549-B06F-4A44-AE10-2E043DA6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44800"/>
            <a:ext cx="6350000" cy="107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endParaRPr sz="4400" b="1" i="0" u="none">
              <a:solidFill>
                <a:srgbClr val="2B2F3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2DD08841-7DDA-48F5-9283-250B0A13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68" y="3137400"/>
            <a:ext cx="66040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6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       </a:t>
            </a:r>
            <a:r>
              <a:rPr sz="1600" b="0" i="0" u="none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基于现代Web技术栈构建的轻量级、高性能博客平台，融合前后端分离架构与响应式设计。深度集成Markdown编辑、用户权限管理与动态内容渲染，打造安全、可扩展且极具交互性的个人创作空间。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5490E475-91E8-4263-BB2D-3B410142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77" y="4931092"/>
            <a:ext cx="4064000" cy="30670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>
                <a:latin typeface="微软雅黑"/>
                <a:ea typeface="微软雅黑"/>
                <a:cs typeface="微软雅黑"/>
              </a:rPr>
              <a:t>组长：江建宇</a:t>
            </a:r>
            <a:r>
              <a:rPr>
                <a:latin typeface="微软雅黑"/>
                <a:ea typeface="微软雅黑"/>
                <a:cs typeface="微软雅黑"/>
              </a:rPr>
              <a:t>  </a:t>
            </a:r>
            <a:r>
              <a:rPr>
                <a:latin typeface="微软雅黑"/>
                <a:ea typeface="微软雅黑"/>
                <a:cs typeface="微软雅黑"/>
              </a:rPr>
              <a:t>组员：陈泉材</a:t>
            </a:r>
            <a:r>
              <a:rPr>
                <a:latin typeface="微软雅黑"/>
                <a:ea typeface="微软雅黑"/>
                <a:cs typeface="微软雅黑"/>
              </a:rPr>
              <a:t> </a:t>
            </a:r>
            <a:r>
              <a:rPr>
                <a:latin typeface="微软雅黑"/>
                <a:ea typeface="微软雅黑"/>
                <a:cs typeface="微软雅黑"/>
              </a:rPr>
              <a:t>董沈武</a:t>
            </a:r>
            <a:r>
              <a:rPr>
                <a:latin typeface="微软雅黑"/>
                <a:ea typeface="微软雅黑"/>
                <a:cs typeface="微软雅黑"/>
              </a:rPr>
              <a:t> </a:t>
            </a:r>
            <a:r>
              <a:rPr>
                <a:latin typeface="微软雅黑"/>
                <a:ea typeface="微软雅黑"/>
                <a:cs typeface="微软雅黑"/>
              </a:rPr>
              <a:t>程坤</a:t>
            </a:r>
            <a:r>
              <a:rPr>
                <a:latin typeface="微软雅黑"/>
                <a:ea typeface="微软雅黑"/>
                <a:cs typeface="微软雅黑"/>
              </a:rPr>
              <a:t> </a:t>
            </a:r>
            <a:r>
              <a:rPr>
                <a:latin typeface="微软雅黑"/>
                <a:ea typeface="微软雅黑"/>
                <a:cs typeface="微软雅黑"/>
              </a:rPr>
              <a:t>范文涛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59013F92-66C9-47A7-999A-6BBE39FC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1295"/>
            <a:ext cx="1595755" cy="30670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>
                <a:latin typeface="微软雅黑"/>
                <a:ea typeface="微软雅黑"/>
                <a:cs typeface="微软雅黑"/>
              </a:rPr>
              <a:t>时间：</a:t>
            </a:r>
            <a:r>
              <a:rPr>
                <a:latin typeface="微软雅黑"/>
                <a:ea typeface="微软雅黑"/>
                <a:cs typeface="微软雅黑"/>
              </a:rPr>
              <a:t>2026.9.13</a:t>
            </a:r>
          </a:p>
        </p:txBody>
      </p:sp>
      <p:pic>
        <p:nvPicPr>
          <p:cNvPr id="1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153f9f87c496c"/>
          <a:srcRect xmlns:a="http://schemas.openxmlformats.org/drawingml/2006/main" l="0" t="0" r="57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44171" y="1352145"/>
            <a:ext cx="4298005" cy="4562272"/>
          </a:xfrm>
          <a:prstGeom xmlns:a="http://schemas.openxmlformats.org/drawingml/2006/main" prst="cloud">
            <a:avLst/>
          </a:prstGeom>
        </p:spPr>
      </p:pic>
    </p:spTree>
    <p:extLst>
      <p:ext uri="{BB962C8B-B14F-4D97-AF65-F5344CB8AC3E}">
        <p14:creationId xmlns:p14="http://schemas.microsoft.com/office/powerpoint/2010/main" val="12134268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495E7D4-B748-4A8D-BE71-3999F83F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897" y="2720975"/>
            <a:ext cx="3175000" cy="9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800" b="1" i="0" u="none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CONTENTS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43E4A11-BBE8-411C-A6E0-4F2499A1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803400"/>
            <a:ext cx="31750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endParaRPr sz="3200" b="0" i="0" u="none">
              <a:solidFill>
                <a:srgbClr val="2B2F36">
                  <a:alpha val="69804"/>
                </a:srgbClr>
              </a:solidFill>
              <a:highlight>
                <a:srgbClr val="C0C0C0"/>
              </a:highlight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55F68287-10FF-429E-B0BE-44DFD68B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453" y="1289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F36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8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B075ED48-74B6-41FB-A978-BAADAFDA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272" y="1383287"/>
            <a:ext cx="1227455" cy="546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800" b="1" i="0" u="none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项目背景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42FABC5C-4CF8-493E-9B91-6DA872FB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955" y="1350078"/>
            <a:ext cx="4191000" cy="6261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项目</a:t>
            </a:r>
            <a:r>
              <a:rPr b="1" i="0" u="none">
                <a:solidFill>
                  <a:schemeClr val="tx1">
                    <a:alpha val="69804"/>
                  </a:schemeClr>
                </a:solidFill>
                <a:latin typeface="微软雅黑"/>
                <a:ea typeface="微软雅黑"/>
                <a:cs typeface="微软雅黑"/>
              </a:rPr>
              <a:t>目标</a:t>
            </a:r>
            <a:r>
              <a:rPr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、意义与要解决的问题，明确系统建设的初衷与价值</a:t>
            </a:r>
            <a:r>
              <a:rPr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1592953C-0041-4CF0-8C31-A6F2C492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638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F36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7000"/>
              </a:lnSpc>
              <a:buNone/>
            </a:pPr>
            <a:r>
              <a:rPr sz="18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C4A13DC-B3CE-413D-8215-7EF250E0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2603500"/>
            <a:ext cx="1226820" cy="546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设计理念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8B3CA8D-87E5-4001-BC55-56C8C1B6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700" y="2589781"/>
            <a:ext cx="4191000" cy="5937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algn="l">
              <a:lnSpc>
                <a:spcPct val="125000"/>
              </a:lnSpc>
              <a:buSzTx/>
              <a:buNone/>
            </a:pPr>
            <a:r>
              <a:rPr sz="1400"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阐述系统设计的核心思想，以及为用户打造的极致体验与交互目标</a:t>
            </a:r>
            <a:r>
              <a:rPr sz="1400"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400" b="1">
              <a:solidFill>
                <a:srgbClr val="000000">
                  <a:alpha val="69804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BF23EF6-E642-4D2A-BCF4-13D2B661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1" y="36258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F36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7000"/>
              </a:lnSpc>
              <a:buNone/>
            </a:pPr>
            <a:r>
              <a:rPr sz="18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B0605EE8-4C94-4FB2-9790-AE93965F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705" y="3765685"/>
            <a:ext cx="1701257" cy="546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核心功能全景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C0A9FD59-4A1E-40C5-B223-663EE220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742" y="3738062"/>
            <a:ext cx="4191000" cy="6013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全面解析博客前台展示与后台管理的核心功能模块，呈现完整业务闭环</a:t>
            </a:r>
            <a:r>
              <a:rPr sz="1400"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8B31AA57-0487-4538-8750-1F152476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879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F36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7000"/>
              </a:lnSpc>
              <a:buNone/>
            </a:pPr>
            <a:r>
              <a:rPr sz="18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2A64EE2-3557-4982-9004-B037485B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4940300"/>
            <a:ext cx="1226185" cy="546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技术创新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69DFBDD0-F62C-4ED9-B911-10D31607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700" y="4953000"/>
            <a:ext cx="4191000" cy="5740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algn="l">
              <a:lnSpc>
                <a:spcPct val="125000"/>
              </a:lnSpc>
              <a:buSzTx/>
              <a:buNone/>
            </a:pPr>
            <a:r>
              <a:rPr sz="1400"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深入剖析系统的关键技术栈选型，展示架构设计与实现的核心技术亮点。</a:t>
            </a:r>
            <a:endParaRPr sz="1400" b="1">
              <a:solidFill>
                <a:srgbClr val="000000">
                  <a:alpha val="69804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017648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BF374F4-68EA-4479-AE03-42C44ADC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400" y="2451100"/>
            <a:ext cx="1498600" cy="149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>
              <a:lumMod val="75000"/>
              <a:lumOff val="25000"/>
            </a:scheme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36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E8201FC-161F-4D20-81FA-6F4B7439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200" y="2882900"/>
            <a:ext cx="208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3200" b="1" i="0" u="none">
                <a:solidFill>
                  <a:schemeClr val="tx1"/>
                </a:solidFill>
                <a:highlight>
                  <a:srgbClr val="C0C0C0"/>
                </a:highlight>
                <a:latin typeface="微软雅黑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A1824235-A633-4D7F-A6C5-73F3DB54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660" y="2933700"/>
            <a:ext cx="3810000" cy="596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chemeClr val="tx1">
                    <a:alpha val="69804"/>
                  </a:schemeClr>
                </a:solidFill>
                <a:latin typeface="微软雅黑"/>
                <a:ea typeface="微软雅黑"/>
                <a:cs typeface="微软雅黑"/>
              </a:rPr>
              <a:t>项目目标、意义与要解决的问题</a:t>
            </a:r>
          </a:p>
        </p:txBody>
      </p:sp>
    </p:spTree>
    <p:extLst>
      <p:ext uri="{BB962C8B-B14F-4D97-AF65-F5344CB8AC3E}">
        <p14:creationId xmlns:p14="http://schemas.microsoft.com/office/powerpoint/2010/main" val="18471465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654D9309-F4AC-405C-858F-D1505297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06" y="3057457"/>
            <a:ext cx="5016500" cy="23679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just">
              <a:lnSpc>
                <a:spcPct val="125000"/>
              </a:lnSpc>
              <a:buNone/>
            </a:pPr>
            <a:r>
              <a:rPr sz="1600" b="0" i="0" u="none">
                <a:solidFill>
                  <a:schemeClr val="tx1">
                    <a:alpha val="69804"/>
                  </a:schemeClr>
                </a:solidFill>
                <a:latin typeface="微软雅黑"/>
                <a:ea typeface="微软雅黑"/>
                <a:cs typeface="微软雅黑"/>
              </a:rPr>
              <a:t>       自建博客系统能够让作者完全掌控内容、样式与数据，摆脱第三方平台的制约。本项目旨在开发一个功能完整、架构现代的个人博客系统，实现从内容创作、发布管理到用户阅读、检索的完整闭环，为创作者打造真正属于自己的内容阵地。</a:t>
            </a:r>
          </a:p>
        </p:txBody>
      </p:sp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87A5ED2D-38CE-4487-9C37-6F4E81D6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183" y="2110632"/>
            <a:ext cx="3431162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latin typeface="微软雅黑"/>
                <a:ea typeface="微软雅黑"/>
                <a:cs typeface="微软雅黑"/>
              </a:rPr>
              <a:t>项目</a:t>
            </a:r>
            <a:endParaRPr sz="4800" b="1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latin typeface="微软雅黑"/>
                <a:ea typeface="微软雅黑"/>
                <a:cs typeface="微软雅黑"/>
              </a:rPr>
              <a:t>目标与意义</a:t>
            </a:r>
            <a:endParaRPr sz="4800" b="1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" name="图片 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0fd1ffc74494eb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6720" y="1660477"/>
            <a:ext cx="3543706" cy="3537045"/>
          </a:xfrm>
          <a:prstGeom xmlns:a="http://schemas.openxmlformats.org/drawingml/2006/main" prst="bevel">
            <a:avLst/>
          </a:prstGeom>
        </p:spPr>
      </p:pic>
    </p:spTree>
    <p:extLst>
      <p:ext uri="{BB962C8B-B14F-4D97-AF65-F5344CB8AC3E}">
        <p14:creationId xmlns:p14="http://schemas.microsoft.com/office/powerpoint/2010/main" val="775220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12D251-47AE-4486-9F7D-A9681DCE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" y="977900"/>
            <a:ext cx="24892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核心问题聚焦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73B15ED-9531-4C9B-AEC9-EF642369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977900"/>
            <a:ext cx="70358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b="0" i="0" u="none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针对当前内容发布受限、技术应用浅层化及数据异常等痛点，我们从自主掌控、技术深耕与数据保障三个维度出发，构建稳定可靠的解决方案。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F489194-7D43-4704-8D64-35BC862D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2184400"/>
            <a:ext cx="2489200" cy="208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2F36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693d69685436e">
            <a:extLst>
              <a:ext uri="{96DAC541-7B7A-43D3-8B79-37D633B846F1}">
                <asvg:svgBlip xmlns:asvg="http://schemas.microsoft.com/office/drawing/2016/SVG/main" r:embed="Re37dff59cbaa41c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70100" y="280670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4AAAFAB-B49D-4D8E-B0DB-EA8296B0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1" i="0" u="none">
                <a:solidFill>
                  <a:srgbClr val="000000"/>
                </a:solidFill>
                <a:highlight>
                  <a:srgbClr val="C0C0C0"/>
                </a:highlight>
                <a:latin typeface="微软雅黑"/>
                <a:ea typeface="微软雅黑"/>
                <a:cs typeface="微软雅黑"/>
              </a:rPr>
              <a:t>01 内容自主权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C8D2046-4139-462B-A0BD-48BB5EF4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91100"/>
            <a:ext cx="2933700" cy="106553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600" b="0" i="0" u="none"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摆脱第三方平台限制，实现对内容发布、样式设计与数据资产的完全掌控，重塑创作者的内容主导权。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DBDDA44-C227-4A0B-B6EC-1240988C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184400"/>
            <a:ext cx="2489200" cy="208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2F36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6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054c7fb424732">
            <a:extLst>
              <a:ext uri="{96DAC541-7B7A-43D3-8B79-37D633B846F1}">
                <asvg:svgBlip xmlns:asvg="http://schemas.microsoft.com/office/drawing/2016/SVG/main" r:embed="Ra2adf1f6d9c543a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76900" y="280670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1447DBF-66C1-4C00-8E6F-78BBBFBB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419600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1" i="0" u="none">
                <a:solidFill>
                  <a:srgbClr val="000000"/>
                </a:solidFill>
                <a:highlight>
                  <a:srgbClr val="C0C0C0"/>
                </a:highlight>
                <a:latin typeface="微软雅黑"/>
                <a:ea typeface="微软雅黑"/>
                <a:cs typeface="微软雅黑"/>
              </a:rPr>
              <a:t>02 技术实践深化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A6FC48E1-A202-4AE2-BE0F-CCC8AC07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991100"/>
            <a:ext cx="2933700" cy="106489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algn="ctr">
              <a:lnSpc>
                <a:spcPct val="100000"/>
              </a:lnSpc>
              <a:buSzTx/>
              <a:buNone/>
            </a:pPr>
            <a:r>
              <a:rPr sz="1600" b="0" i="0" u="none"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搭建完整的前后端分离项目，深度应用现代Web技术栈，在实战中沉淀工程化经验与技术落地能力。</a:t>
            </a:r>
            <a:endParaRPr sz="1600">
              <a:solidFill>
                <a:srgbClr val="2B2F36">
                  <a:alpha val="81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885089FB-7441-4D5E-BFA8-5D128B20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84400"/>
            <a:ext cx="2489200" cy="208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2F36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0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3ee49681d24f5c">
            <a:extLst>
              <a:ext uri="{96DAC541-7B7A-43D3-8B79-37D633B846F1}">
                <asvg:svgBlip xmlns:asvg="http://schemas.microsoft.com/office/drawing/2016/SVG/main" r:embed="Re7f5f6783a314b0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83700" y="280670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5D30780D-7ACB-4F3C-BEB2-661CDB6F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670" y="4419600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1" i="0" u="none">
                <a:solidFill>
                  <a:srgbClr val="000000"/>
                </a:solidFill>
                <a:highlight>
                  <a:srgbClr val="C0C0C0"/>
                </a:highlight>
                <a:latin typeface="微软雅黑"/>
                <a:ea typeface="微软雅黑"/>
                <a:cs typeface="微软雅黑"/>
              </a:rPr>
              <a:t>03 数据一致性保障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46FD577-F1CE-4692-AE6E-BD41F920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91100"/>
            <a:ext cx="2933700" cy="106553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algn="ctr">
              <a:lnSpc>
                <a:spcPct val="100000"/>
              </a:lnSpc>
              <a:buSzTx/>
              <a:buNone/>
            </a:pPr>
            <a:r>
              <a:rPr sz="1600" b="0" i="0" u="none"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解决网络波动或误操作引发的重复提交问题，通过技术手段确保系统数据的准确性、完整性与一致性。</a:t>
            </a:r>
            <a:endParaRPr sz="1600">
              <a:solidFill>
                <a:srgbClr val="2B2F36">
                  <a:alpha val="81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897478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78E9BA2-0578-441E-8523-D5E9D157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400" y="2451100"/>
            <a:ext cx="1498600" cy="149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>
              <a:lumMod val="75000"/>
              <a:lumOff val="25000"/>
            </a:scheme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36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BFC51681-DFF5-41DE-B460-D88AD4B1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200" y="2882900"/>
            <a:ext cx="208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3200" b="1" i="0" u="none">
                <a:solidFill>
                  <a:schemeClr val="tx1"/>
                </a:solidFill>
                <a:highlight>
                  <a:srgbClr val="C0C0C0"/>
                </a:highlight>
                <a:latin typeface="微软雅黑"/>
                <a:ea typeface="微软雅黑"/>
                <a:cs typeface="微软雅黑"/>
              </a:rPr>
              <a:t>设计理念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4F8E2723-C1A5-4619-95DD-FD298E2D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660" y="2933700"/>
            <a:ext cx="4090670" cy="596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>
                <a:solidFill>
                  <a:schemeClr val="tx1">
                    <a:alpha val="69804"/>
                  </a:schemeClr>
                </a:solidFill>
                <a:latin typeface="微软雅黑"/>
                <a:ea typeface="微软雅黑"/>
                <a:cs typeface="微软雅黑"/>
              </a:rPr>
              <a:t>系统设计核心思想与用户体验目标</a:t>
            </a:r>
            <a:endParaRPr sz="2000" b="1" i="0" u="none">
              <a:solidFill>
                <a:schemeClr val="tx1">
                  <a:alpha val="69804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856998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52DD5E5-0219-AAA8-270B-B49CE8DC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761" y="1201366"/>
            <a:ext cx="4766554" cy="4619665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f58883fc724883"/>
          <a:srcRect xmlns:a="http://schemas.openxmlformats.org/drawingml/2006/main" l="35294" t="59217" r="8123" b="50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96210" y="875030"/>
            <a:ext cx="2565400" cy="1625600"/>
          </a:xfrm>
          <a:prstGeom xmlns:a="http://schemas.openxmlformats.org/drawingml/2006/main" prst="roundRect">
            <a:avLst>
              <a:gd name="adj" fmla="val 0"/>
            </a:avLst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pic>
        <p:nvPicPr>
          <p:cNvPr id="1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f58883fc724883"/>
          <a:srcRect xmlns:a="http://schemas.openxmlformats.org/drawingml/2006/main" l="0" t="25000" r="50000" b="433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V="1">
            <a:off x="406400" y="281913"/>
            <a:ext cx="2565400" cy="1625600"/>
          </a:xfrm>
          <a:prstGeom xmlns:a="http://schemas.openxmlformats.org/drawingml/2006/main" prst="roundRect">
            <a:avLst>
              <a:gd name="adj" fmla="val 0"/>
            </a:avLst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40C7339E-D766-44C0-8343-A7BC8349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" y="2730500"/>
            <a:ext cx="4829810" cy="9118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algn="just">
              <a:lnSpc>
                <a:spcPct val="125000"/>
              </a:lnSpc>
              <a:buNone/>
            </a:pP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以「</a:t>
            </a:r>
            <a:r>
              <a:rPr b="1">
                <a:latin typeface="微软雅黑"/>
                <a:ea typeface="微软雅黑"/>
                <a:cs typeface="微软雅黑"/>
              </a:rPr>
              <a:t>分离、分层、聚焦、规范</a:t>
            </a: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」为设计主线：前后端各司其职、权责分明，聚焦内容核心闭环，打造高可用、易维护的现代化博客系统</a:t>
            </a:r>
            <a:r>
              <a:rPr b="0" i="0" u="none">
                <a:solidFill>
                  <a:schemeClr val="tx1">
                    <a:alpha val="69804"/>
                  </a:schemeClr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1374F14C-52AB-482E-A53F-544E8174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721100"/>
            <a:ext cx="31750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0" i="0" u="none">
                <a:solidFill>
                  <a:srgbClr val="2B2F36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系统设计原则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8CC5F596-CA2B-4547-A4DC-5AB92685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102100"/>
            <a:ext cx="4471035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8000" b="1" i="0" u="none">
                <a:solidFill>
                  <a:srgbClr val="000000"/>
                </a:solidFill>
                <a:latin typeface="+mj-lt"/>
                <a:ea typeface="+mj-lt"/>
                <a:cs typeface="+mj-lt"/>
              </a:rPr>
              <a:t>核心思想</a:t>
            </a:r>
            <a:endParaRPr sz="1100">
              <a:latin typeface="+mj-lt"/>
              <a:ea typeface="+mj-lt"/>
              <a:cs typeface="+mj-lt"/>
            </a:endParaR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9E42672-125A-4C7D-A938-8C77E2F1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711" y="2070100"/>
            <a:ext cx="5015688" cy="2921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190500" tIns="190500" rIns="190500" bIns="190500" anchor="ctr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01</a:t>
            </a: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b="1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前后端分离：</a:t>
            </a: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 后端专注提供 RESTful 接口，前端采用 Vue 3 独立开发部署，以 JSON 报文通信，关注点分离大幅提升并行开发与迭代效率。</a:t>
            </a:r>
            <a:endParaRPr>
              <a:solidFill>
                <a:srgbClr val="2B2F36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25000"/>
              </a:lnSpc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02</a:t>
            </a: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b="1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角色清晰划分：</a:t>
            </a: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 访客、注册用户、博主三级权限体系逐级递进，后台管理仅对博主开放，权限边界清晰可控，保障数据安全。</a:t>
            </a:r>
            <a:endParaRPr>
              <a:solidFill>
                <a:srgbClr val="2B2F36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25000"/>
              </a:lnSpc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03</a:t>
            </a: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b="1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聚焦核心闭环：</a:t>
            </a: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 不做社交关系链，专注写作、发布、阅读与检索的完整闭环，打磨极致的内容创作与消费体验。</a:t>
            </a:r>
          </a:p>
          <a:p xmlns:a="http://schemas.openxmlformats.org/drawingml/2006/main">
            <a:pPr>
              <a:lnSpc>
                <a:spcPct val="125000"/>
              </a:lnSpc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 </a:t>
            </a:r>
            <a:r>
              <a:rPr b="1">
                <a:latin typeface="微软雅黑"/>
                <a:ea typeface="微软雅黑"/>
                <a:cs typeface="微软雅黑"/>
              </a:rPr>
              <a:t>0</a:t>
            </a:r>
            <a:r>
              <a:rPr b="1">
                <a:latin typeface="微软雅黑"/>
                <a:ea typeface="微软雅黑"/>
                <a:cs typeface="微软雅黑"/>
              </a:rPr>
              <a:t>4</a:t>
            </a: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b="1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接口幂等保障：</a:t>
            </a: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 基于策略模式与 Redis 幂等校验机制，杜绝弱网重复提交产生的重复数据，确保同一业务动作只落库一次。</a:t>
            </a:r>
            <a:endParaRPr>
              <a:solidFill>
                <a:srgbClr val="2B2F36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25000"/>
              </a:lnSpc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 </a:t>
            </a:r>
            <a:r>
              <a:rPr b="1">
                <a:latin typeface="微软雅黑"/>
                <a:ea typeface="微软雅黑"/>
                <a:cs typeface="微软雅黑"/>
              </a:rPr>
              <a:t>05</a:t>
            </a: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b="1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统一工程规范：</a:t>
            </a: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 全站接口采用统一响应结构，登录采用无状态令牌鉴权，接口文档由代码注解自动生成、与实现永远同步。</a:t>
            </a:r>
            <a:endParaRPr>
              <a:solidFill>
                <a:srgbClr val="2B2F36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25000"/>
              </a:lnSpc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 </a:t>
            </a:r>
            <a:r>
              <a:rPr b="1">
                <a:latin typeface="微软雅黑"/>
                <a:ea typeface="微软雅黑"/>
                <a:cs typeface="微软雅黑"/>
              </a:rPr>
              <a:t>06</a:t>
            </a: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b="1"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轻量资源策略：</a:t>
            </a: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 图片等文件存放云存储、外链访问，热点数据进入 Redis 缓存，让应用服务器保持轻量高效。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64036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5B2A5C7-E6C0-48ED-836A-BE579AEB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05" y="2419889"/>
            <a:ext cx="4038600" cy="2222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>
                <a:solidFill>
                  <a:srgbClr val="2B2F36"/>
                </a:solidFill>
                <a:latin typeface="微软雅黑"/>
                <a:ea typeface="微软雅黑"/>
                <a:cs typeface="微软雅黑"/>
              </a:rPr>
              <a:t>我们致力于打造卓越的博客系统体验：前台以清晰的 Markdown 排版与响应式布局保障多端阅读舒适感，后台以集中管理面板与数据看板让创作和运营轻松高效，并以即时明确的状态反馈让用户始终掌控操作全局。</a:t>
            </a:r>
            <a:endParaRPr>
              <a:solidFill>
                <a:srgbClr val="2B2F3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AEB9246-66E6-4077-B0C7-60596534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494" y="1562281"/>
            <a:ext cx="544642" cy="356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4800" b="1" i="0" u="none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目标</a:t>
            </a:r>
            <a:endParaRPr sz="28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AutoShape 5">
            <a:extLst xmlns:a="http://schemas.openxmlformats.org/drawingml/2006/main">
              <a:ext uri="{FF2B5EF4-FFF2-40B4-BE49-F238E27FC236}">
                <a16:creationId xmlns:a16="http://schemas.microsoft.com/office/drawing/2014/main" id="{EFEC8351-9EF8-49A9-8D47-0D02E59A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960" y="1289907"/>
            <a:ext cx="4038600" cy="448246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四大核心体验支柱</a:t>
            </a:r>
            <a:r>
              <a:rPr sz="1600"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：</a:t>
            </a:r>
            <a:br/>
            <a:r>
              <a:rPr sz="1600" b="0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1600"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沉浸式阅读：</a:t>
            </a:r>
            <a:r>
              <a:rPr sz="1600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正文以</a:t>
            </a:r>
            <a:r>
              <a:rPr sz="1600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 Markdown </a:t>
            </a:r>
            <a:r>
              <a:rPr sz="1600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存储并由前端渲染，支持代码语法高亮与多端响应式布局</a:t>
            </a:r>
            <a:r>
              <a:rPr sz="1600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。</a:t>
            </a:r>
            <a:br/>
            <a:r>
              <a:rPr sz="1600" b="0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sz="1600"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便捷管理</a:t>
            </a:r>
            <a:r>
              <a:rPr sz="1600"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600">
                <a:solidFill>
                  <a:srgbClr val="2B2F36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草稿暂存、分类标签组织与封面配置一气呵成，后台集中管理文章与站点。</a:t>
            </a:r>
            <a:br/>
            <a:r>
              <a:rPr sz="1600" b="0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sz="1600"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精准检索</a:t>
            </a:r>
            <a:r>
              <a:rPr sz="1600"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600">
                <a:solidFill>
                  <a:srgbClr val="2B2F36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关键词搜索叠加分类、标签多维筛选，快速命中目标内容。</a:t>
            </a:r>
            <a:br/>
            <a:r>
              <a:rPr sz="1600" b="0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4. </a:t>
            </a:r>
            <a:r>
              <a:rPr sz="1600"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即时反馈</a:t>
            </a:r>
            <a:r>
              <a:rPr sz="1600" b="1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600">
                <a:solidFill>
                  <a:srgbClr val="2B2F36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发布、登录等关键操作均有明确状态提示，发布后前台内容实时可见。</a:t>
            </a:r>
            <a:endParaRPr sz="1600" b="0" i="0">
              <a:solidFill>
                <a:srgbClr val="2B2F36">
                  <a:alpha val="69804"/>
                </a:srgb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endParaRPr sz="1600" b="0" i="0" u="none">
              <a:solidFill>
                <a:srgbClr val="000000">
                  <a:alpha val="69804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4716898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943FCEE1-67D6-445D-A6AC-231DD004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400" y="2451100"/>
            <a:ext cx="1498600" cy="149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>
              <a:lumMod val="75000"/>
              <a:lumOff val="25000"/>
            </a:scheme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36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7E6EB29E-FEF7-4AFE-B81D-2C4926B8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200" y="2882900"/>
            <a:ext cx="281559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3200" b="1" i="0" u="none">
                <a:solidFill>
                  <a:schemeClr val="tx1"/>
                </a:solidFill>
                <a:highlight>
                  <a:srgbClr val="C0C0C0"/>
                </a:highlight>
                <a:latin typeface="微软雅黑"/>
                <a:ea typeface="微软雅黑"/>
                <a:cs typeface="微软雅黑"/>
              </a:rPr>
              <a:t>核心功能全景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69B1C6A9-E348-455E-BDAC-059CBC51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8790" y="2885060"/>
            <a:ext cx="3616325" cy="596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>
                <a:solidFill>
                  <a:schemeClr val="tx1">
                    <a:alpha val="69804"/>
                  </a:schemeClr>
                </a:solidFill>
                <a:latin typeface="微软雅黑"/>
                <a:ea typeface="微软雅黑"/>
                <a:cs typeface="微软雅黑"/>
              </a:rPr>
              <a:t>博客前台与后台管理功能详解</a:t>
            </a:r>
            <a:endParaRPr sz="2000" b="1" i="0" u="none">
              <a:solidFill>
                <a:schemeClr val="tx1">
                  <a:alpha val="69804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1637555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D49E11D-E064-480E-A8A3-70D04C89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" y="977900"/>
            <a:ext cx="24892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博客前台功能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678F820-ADEA-4BD1-BD20-93A2A93D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977900"/>
            <a:ext cx="768985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0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聚焦用户端核心体验，打造集内容展示、高效导航与用户管理于一体的博客前台体系，通过清晰的功能模块设计，为读者提供流畅的浏览与互动服务。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4B460CE9-EB01-4767-9099-B22D5B0C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2184400"/>
            <a:ext cx="2489200" cy="208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2F36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B182920D-380B-44F6-A7E8-85EDA84E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1" i="0" u="none">
                <a:solidFill>
                  <a:srgbClr val="000000"/>
                </a:solidFill>
                <a:highlight>
                  <a:srgbClr val="C0C0C0"/>
                </a:highlight>
                <a:latin typeface="微软雅黑"/>
                <a:ea typeface="微软雅黑"/>
                <a:cs typeface="微软雅黑"/>
              </a:rPr>
              <a:t>文章展示模块</a:t>
            </a:r>
            <a:endParaRPr sz="1800" b="1" i="0" u="none">
              <a:solidFill>
                <a:srgbClr val="000000"/>
              </a:solidFill>
              <a:highlight>
                <a:srgbClr val="C0C0C0"/>
              </a:highlight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CDCEE8B-53A1-4F3F-B315-27BC2285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91100"/>
            <a:ext cx="2933700" cy="8896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b="0" i="0" u="none"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首页呈现文章列表与详情页，支持分页加载与按时间、热度排序，优化内容浏览效率</a:t>
            </a:r>
            <a:r>
              <a:rPr b="0" i="0" u="none"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F51F4F92-BE90-4E9A-9F09-851EA50D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184400"/>
            <a:ext cx="2489200" cy="208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2F36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ADD15C9D-1900-4EC9-96E7-1EFD901F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419600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1" i="0" u="none">
                <a:solidFill>
                  <a:srgbClr val="000000"/>
                </a:solidFill>
                <a:highlight>
                  <a:srgbClr val="C0C0C0"/>
                </a:highlight>
                <a:latin typeface="微软雅黑"/>
                <a:ea typeface="微软雅黑"/>
                <a:cs typeface="微软雅黑"/>
              </a:rPr>
              <a:t>分类与标签导航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A0C98977-9E65-471A-8E48-BFA08BB0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991100"/>
            <a:ext cx="2933700" cy="8896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b="0" i="0" u="none"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建立分类与标签双重索引，实现内容快速检索与聚合，助力用户精准定位感兴趣主题。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BC5345FA-4F1D-4759-A930-90453420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84400"/>
            <a:ext cx="2489200" cy="208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2F36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EE3ABD59-D745-4B6F-8557-86E43D09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19600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1" i="0" u="none">
                <a:solidFill>
                  <a:srgbClr val="000000"/>
                </a:solidFill>
                <a:highlight>
                  <a:srgbClr val="C0C0C0"/>
                </a:highlight>
                <a:latin typeface="微软雅黑"/>
                <a:ea typeface="微软雅黑"/>
                <a:cs typeface="微软雅黑"/>
              </a:rPr>
              <a:t>用户全流程管理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E277383E-67CF-45FA-AFCF-0BD76B0A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91100"/>
            <a:ext cx="2933700" cy="889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b="0" i="0" u="none"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提供注册、登录、密码找回及个人资料管理功能，为用户互动与社区运营筑牢基础。</a:t>
            </a:r>
          </a:p>
        </p:txBody>
      </p:sp>
      <p:pic>
        <p:nvPicPr>
          <p:cNvPr id="30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37f6154804d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87125" y="1973620"/>
            <a:ext cx="3217750" cy="2082800"/>
          </a:xfrm>
          <a:prstGeom xmlns:a="http://schemas.openxmlformats.org/drawingml/2006/main" prst="rect">
            <a:avLst/>
          </a:prstGeom>
        </p:spPr>
      </p:pic>
      <p:pic>
        <p:nvPicPr>
          <p:cNvPr id="31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43d8cb5924f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129" y="2066445"/>
            <a:ext cx="3003314" cy="1975810"/>
          </a:xfrm>
          <a:prstGeom xmlns:a="http://schemas.openxmlformats.org/drawingml/2006/main" prst="rect">
            <a:avLst/>
          </a:prstGeom>
        </p:spPr>
      </p:pic>
      <p:pic>
        <p:nvPicPr>
          <p:cNvPr id="32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730ae845349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21479" y="1950780"/>
            <a:ext cx="3040392" cy="20141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8094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D53BED7B-0121-4656-B0ED-42AB61F2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" y="977900"/>
            <a:ext cx="24892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后台管理</a:t>
            </a:r>
            <a:r>
              <a:rPr sz="2800" b="1" i="0" u="none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功能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94E3FF0-E193-47FF-8927-C74A880F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977900"/>
            <a:ext cx="7689850" cy="1054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为博主打造的高效工作台，集成内容创作、分类管理与系统监控的一站式管理平台。通过直观的操作界面，实现从内容生产到运营数据监控的全流程管理，助力博主高效运营。</a:t>
            </a:r>
            <a:endParaRPr sz="1600" b="0" i="0" u="none">
              <a:solidFill>
                <a:srgbClr val="000000">
                  <a:alpha val="69804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93030E70-2814-44C3-B5FB-96B24C79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2184400"/>
            <a:ext cx="2489200" cy="208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2F36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67FE733-C47C-4FB9-AD21-C3170101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1">
                <a:highlight>
                  <a:srgbClr val="C0C0C0"/>
                </a:highlight>
                <a:latin typeface="微软雅黑"/>
                <a:ea typeface="微软雅黑"/>
                <a:cs typeface="微软雅黑"/>
              </a:rPr>
              <a:t>文章全生命周期管理</a:t>
            </a:r>
            <a:endParaRPr sz="1800" b="1">
              <a:highlight>
                <a:srgbClr val="C0C0C0"/>
              </a:highlight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1D09C1-1176-4BB0-946A-2DBBB0CE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91100"/>
            <a:ext cx="2933700" cy="8896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b="0" i="0" u="none"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支持文章增删改查、草稿暂存、封面自定义及阅读时长智能估算，打造流畅的内容创作与发布体验。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FB19A34-42B6-4489-91F9-A45A86FB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184400"/>
            <a:ext cx="2489200" cy="208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2F36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088EF90-C8D3-4A70-B454-EBB4D224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419600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1">
                <a:highlight>
                  <a:srgbClr val="C0C0C0"/>
                </a:highlight>
                <a:latin typeface="微软雅黑"/>
                <a:ea typeface="微软雅黑"/>
                <a:cs typeface="微软雅黑"/>
              </a:rPr>
              <a:t>分类与标签体系维护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3CA6846-5ECB-4BEC-A4E9-18DB08DD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991100"/>
            <a:ext cx="2933700" cy="8896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b="0" i="0" u="none"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对文章分类层级与标签关键词进行全生命周期维护，构建清晰的内容索引体系，提升内容检索效率。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8580365F-294D-4A16-9659-B1231269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84400"/>
            <a:ext cx="2489200" cy="208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2F36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8BF451E7-5C44-486C-890D-0E9FA9CA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19600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800" b="1">
                <a:highlight>
                  <a:srgbClr val="C0C0C0"/>
                </a:highlight>
                <a:latin typeface="微软雅黑"/>
                <a:ea typeface="微软雅黑"/>
                <a:cs typeface="微软雅黑"/>
              </a:rPr>
              <a:t>系统配置与数据看板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72FF77FD-F3C4-47EB-9C36-368086C9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91100"/>
            <a:ext cx="2933700" cy="889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b="0" i="0" u="none"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可视化配置站点基础信息，实时监控文件上传状态，提供多维度数据统计看板，直观掌握博客运营动态。</a:t>
            </a:r>
          </a:p>
        </p:txBody>
      </p:sp>
      <p:pic>
        <p:nvPicPr>
          <p:cNvPr id="30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70081578746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" y="1974850"/>
            <a:ext cx="2489200" cy="2082800"/>
          </a:xfrm>
          <a:prstGeom xmlns:a="http://schemas.openxmlformats.org/drawingml/2006/main" prst="rect">
            <a:avLst/>
          </a:prstGeom>
        </p:spPr>
      </p:pic>
      <p:pic>
        <p:nvPicPr>
          <p:cNvPr id="31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1a9f21a114d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14925" y="1847850"/>
            <a:ext cx="2489200" cy="2082800"/>
          </a:xfrm>
          <a:prstGeom xmlns:a="http://schemas.openxmlformats.org/drawingml/2006/main" prst="rect">
            <a:avLst/>
          </a:prstGeom>
        </p:spPr>
      </p:pic>
      <p:pic>
        <p:nvPicPr>
          <p:cNvPr id="32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9a4041296e4a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48725" y="2222500"/>
            <a:ext cx="2489200" cy="2082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23754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60fab59944f58"/>
          <a:srcRect xmlns:a="http://schemas.openxmlformats.org/drawingml/2006/main" l="0" t="0" r="0" b="75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00880" y="959660"/>
            <a:ext cx="5276278" cy="4938680"/>
          </a:xfrm>
          <a:prstGeom xmlns:a="http://schemas.openxmlformats.org/drawingml/2006/main" prst="rect">
            <a:avLst/>
          </a:prstGeom>
        </p:spPr>
      </p:pic>
      <p:sp>
        <p:nvSpPr>
          <p:cNvPr id="12" name="TextBox 10">
            <a:extLst xmlns:a="http://schemas.openxmlformats.org/drawingml/2006/main">
              <a:ext uri="{FF2B5EF4-FFF2-40B4-BE49-F238E27FC236}">
                <a16:creationId xmlns:a16="http://schemas.microsoft.com/office/drawing/2014/main" id="{4A59C089-A3DF-908E-DA89-F0A3EC28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217" y="2951946"/>
            <a:ext cx="3330859" cy="95410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集成</a:t>
            </a:r>
            <a:r>
              <a:rPr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 DeepSeek </a:t>
            </a:r>
            <a:r>
              <a:rPr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大模型：一键改写优化正文，支持重新生成与确认应用，API</a:t>
            </a:r>
            <a:r>
              <a:rPr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 Key </a:t>
            </a:r>
            <a:r>
              <a:rPr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仅存于服务端，创作效率与质量双提升</a:t>
            </a:r>
            <a:r>
              <a:rPr>
                <a:solidFill>
                  <a:srgbClr val="2B2F36">
                    <a:alpha val="81000"/>
                  </a:srgbClr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822BA565-D117-4759-2316-482E11BE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5588" y="1613119"/>
            <a:ext cx="2672526" cy="861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微软雅黑"/>
                <a:ea typeface="微软雅黑"/>
                <a:cs typeface="微软雅黑"/>
              </a:rPr>
              <a:t>AI </a:t>
            </a:r>
            <a:r>
              <a:rPr sz="3600" b="1">
                <a:latin typeface="微软雅黑"/>
                <a:ea typeface="微软雅黑"/>
                <a:cs typeface="微软雅黑"/>
              </a:rPr>
              <a:t>智能润色</a:t>
            </a:r>
          </a:p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446766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4D73766-F322-4AEC-B4CF-CFFBA9B8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400" y="2451100"/>
            <a:ext cx="1498600" cy="149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>
              <a:lumMod val="75000"/>
              <a:lumOff val="25000"/>
            </a:scheme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36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21546A3-EF88-4BE5-928F-BA726E89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200" y="2882900"/>
            <a:ext cx="208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3200" b="1" i="0" u="none">
                <a:solidFill>
                  <a:schemeClr val="tx1"/>
                </a:solidFill>
                <a:highlight>
                  <a:srgbClr val="C0C0C0"/>
                </a:highlight>
                <a:latin typeface="微软雅黑"/>
                <a:ea typeface="微软雅黑"/>
                <a:cs typeface="微软雅黑"/>
              </a:rPr>
              <a:t>技术创新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5647C17-241D-4440-9E29-46813EC4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660" y="2933700"/>
            <a:ext cx="3344545" cy="596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>
                <a:solidFill>
                  <a:schemeClr val="tx1">
                    <a:alpha val="69804"/>
                  </a:schemeClr>
                </a:solidFill>
                <a:latin typeface="微软雅黑"/>
                <a:ea typeface="微软雅黑"/>
                <a:cs typeface="微软雅黑"/>
              </a:rPr>
              <a:t>关键技术栈与核心实现亮点</a:t>
            </a:r>
            <a:endParaRPr sz="2000" b="1" i="0" u="none">
              <a:solidFill>
                <a:schemeClr val="tx1">
                  <a:alpha val="69804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8803845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D1007B5-F50B-4107-9F8E-FD00C9AF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914400"/>
            <a:ext cx="3175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endParaRPr sz="2400" b="0" i="0" u="none">
              <a:solidFill>
                <a:srgbClr val="000000">
                  <a:alpha val="69804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BA4AF88-3663-4EFF-97ED-262E735A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400" y="914400"/>
            <a:ext cx="3175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矩形: 圆角 61">
            <a:extLst xmlns:a="http://schemas.openxmlformats.org/drawingml/2006/main">
              <a:ext uri="{FF2B5EF4-FFF2-40B4-BE49-F238E27FC236}">
                <a16:creationId xmlns:a16="http://schemas.microsoft.com/office/drawing/2014/main" id="{02B1C3EE-9AF2-49E5-B82E-A92948B1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606898"/>
            <a:ext cx="1905000" cy="8128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2B2F3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 </a:t>
            </a: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编辑正文</a:t>
            </a:r>
          </a:p>
        </p:txBody>
      </p:sp>
      <p:sp>
        <p:nvSpPr>
          <p:cNvPr id="63" name="矩形: 圆角 62">
            <a:extLst xmlns:a="http://schemas.openxmlformats.org/drawingml/2006/main">
              <a:ext uri="{FF2B5EF4-FFF2-40B4-BE49-F238E27FC236}">
                <a16:creationId xmlns:a16="http://schemas.microsoft.com/office/drawing/2014/main" id="{939E4EDE-974E-4BAA-B7F4-EB376BC1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644" y="920886"/>
            <a:ext cx="1905000" cy="8128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2B2F3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 </a:t>
            </a: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一键润色</a:t>
            </a:r>
          </a:p>
        </p:txBody>
      </p:sp>
      <p:sp>
        <p:nvSpPr>
          <p:cNvPr id="64" name="矩形: 圆角 63">
            <a:extLst xmlns:a="http://schemas.openxmlformats.org/drawingml/2006/main">
              <a:ext uri="{FF2B5EF4-FFF2-40B4-BE49-F238E27FC236}">
                <a16:creationId xmlns:a16="http://schemas.microsoft.com/office/drawing/2014/main" id="{79711670-6893-4287-A317-A4DD64F5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036" y="2559725"/>
            <a:ext cx="1905000" cy="8128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2B2F3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 </a:t>
            </a: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服务端调用</a:t>
            </a:r>
          </a:p>
        </p:txBody>
      </p:sp>
      <p:sp>
        <p:nvSpPr>
          <p:cNvPr id="65" name="矩形: 圆角 64">
            <a:extLst xmlns:a="http://schemas.openxmlformats.org/drawingml/2006/main">
              <a:ext uri="{FF2B5EF4-FFF2-40B4-BE49-F238E27FC236}">
                <a16:creationId xmlns:a16="http://schemas.microsoft.com/office/drawing/2014/main" id="{29F4C532-31EF-41DC-A1BC-98BAFE99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04" y="4512553"/>
            <a:ext cx="1905000" cy="8128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2B2F3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 </a:t>
            </a: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结果预览</a:t>
            </a:r>
          </a:p>
        </p:txBody>
      </p:sp>
      <p:sp>
        <p:nvSpPr>
          <p:cNvPr id="66" name="矩形: 圆角 65">
            <a:extLst xmlns:a="http://schemas.openxmlformats.org/drawingml/2006/main">
              <a:ext uri="{FF2B5EF4-FFF2-40B4-BE49-F238E27FC236}">
                <a16:creationId xmlns:a16="http://schemas.microsoft.com/office/drawing/2014/main" id="{74B3963A-03EA-4AF5-9108-3642AA8F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368" y="5156740"/>
            <a:ext cx="1905000" cy="8128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2B2F3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 </a:t>
            </a: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确认应用</a:t>
            </a:r>
          </a:p>
        </p:txBody>
      </p:sp>
      <p:cxnSp>
        <p:nvCxnSpPr>
          <p:cNvPr id="92" name="连接符: 曲线 4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4127500" y="1013298"/>
            <a:ext cx="1080000" cy="288000"/>
          </a:xfrm>
          <a:prstGeom xmlns:a="http://schemas.openxmlformats.org/drawingml/2006/main" prst="curvedConnector3">
            <a:avLst/>
          </a:prstGeom>
          <a:ln xmlns:a="http://schemas.openxmlformats.org/drawingml/2006/main" w="31750">
            <a:tailEnd type="triangle"/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93" name="连接符: 曲线 7"/>
          <p:cNvCxnSpPr>
            <a:stCxn xmlns:a="http://schemas.openxmlformats.org/drawingml/2006/main" id="63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 rot="5400000">
            <a:off x="5035821" y="1417401"/>
            <a:ext cx="826039" cy="1458608"/>
          </a:xfrm>
          <a:prstGeom xmlns:a="http://schemas.openxmlformats.org/drawingml/2006/main" prst="curvedConnector3">
            <a:avLst/>
          </a:prstGeom>
          <a:ln xmlns:a="http://schemas.openxmlformats.org/drawingml/2006/main" w="31750">
            <a:tailEnd type="triangle"/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94" name="连接符: 曲线 10"/>
          <p:cNvCxnSpPr>
            <a:stCxn xmlns:a="http://schemas.openxmlformats.org/drawingml/2006/main" id="64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 rot="5400000">
            <a:off x="4040356" y="3833373"/>
            <a:ext cx="1140028" cy="218332"/>
          </a:xfrm>
          <a:prstGeom xmlns:a="http://schemas.openxmlformats.org/drawingml/2006/main" prst="curvedConnector3">
            <a:avLst/>
          </a:prstGeom>
          <a:ln xmlns:a="http://schemas.openxmlformats.org/drawingml/2006/main" w="31750">
            <a:tailEnd type="triangle"/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95" name="连接符: 曲线 12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5453704" y="4918953"/>
            <a:ext cx="1198664" cy="644187"/>
          </a:xfrm>
          <a:prstGeom xmlns:a="http://schemas.openxmlformats.org/drawingml/2006/main" prst="curvedConnector3">
            <a:avLst/>
          </a:prstGeom>
          <a:ln xmlns:a="http://schemas.openxmlformats.org/drawingml/2006/main" w="31750">
            <a:tailEnd type="triangle"/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96" name="连接符: 曲线 14"/>
          <p:cNvCxnSpPr>
            <a:stCxn xmlns:a="http://schemas.openxmlformats.org/drawingml/2006/main" id="66" idx="0"/>
            <a:endCxn xmlns:a="http://schemas.openxmlformats.org/drawingml/2006/main" id="64" idx="3"/>
          </p:cNvCxnSpPr>
          <p:nvPr/>
        </p:nvCxnSpPr>
        <p:spPr>
          <a:xfrm xmlns:a="http://schemas.openxmlformats.org/drawingml/2006/main" rot="16200000" flipV="1">
            <a:off x="5543145" y="3095017"/>
            <a:ext cx="2190615" cy="1932832"/>
          </a:xfrm>
          <a:prstGeom xmlns:a="http://schemas.openxmlformats.org/drawingml/2006/main" prst="curvedConnector2">
            <a:avLst/>
          </a:prstGeom>
          <a:ln xmlns:a="http://schemas.openxmlformats.org/drawingml/2006/main" w="31750">
            <a:prstDash val="sysDash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72" name="矩形: 圆角 71">
            <a:extLst xmlns:a="http://schemas.openxmlformats.org/drawingml/2006/main">
              <a:ext uri="{FF2B5EF4-FFF2-40B4-BE49-F238E27FC236}">
                <a16:creationId xmlns:a16="http://schemas.microsoft.com/office/drawing/2014/main" id="{623515FF-7E3D-4594-918B-C293CC10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319" y="3578428"/>
            <a:ext cx="1472659" cy="279400"/>
          </a:xfrm>
          <a:prstGeom xmlns:a="http://schemas.openxmlformats.org/drawingml/2006/main" prst="roundRect">
            <a:avLst>
              <a:gd name="adj" fmla="val 4376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highlight>
                  <a:srgbClr val="C0C0C0"/>
                </a:highlight>
                <a:latin typeface="微软雅黑"/>
                <a:ea typeface="微软雅黑"/>
                <a:cs typeface="微软雅黑"/>
              </a:rPr>
              <a:t>重新生成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70125C6C-BD51-AA74-2A13-F0636C4C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7368" y="2559725"/>
            <a:ext cx="1954382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/>
              <a:t>润  色</a:t>
            </a:r>
          </a:p>
        </p:txBody>
      </p:sp>
    </p:spTree>
    <p:extLst>
      <p:ext uri="{BB962C8B-B14F-4D97-AF65-F5344CB8AC3E}">
        <p14:creationId xmlns:p14="http://schemas.microsoft.com/office/powerpoint/2010/main" val="169133288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24E6A9-0ED4-4522-987C-DFECF3E7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4102100"/>
            <a:ext cx="3908425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8000" b="1" i="0" u="none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技术栈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8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7D0E8BA8-CEE5-4364-A97D-8AEBA757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3721100"/>
            <a:ext cx="31750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0" i="0" u="none">
                <a:solidFill>
                  <a:srgbClr val="2B2F36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核心架构与选型</a:t>
            </a:r>
            <a:endParaRPr sz="11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8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44113A95-E2C7-4FF6-B08A-03049E12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" y="2730500"/>
            <a:ext cx="4543425" cy="92900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alpha val="83000"/>
            </a:scheme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127000" tIns="127000" rIns="127000" bIns="1270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b="0" i="0" u="none">
                <a:solidFill>
                  <a:srgbClr val="000000">
                    <a:alpha val="69804"/>
                  </a:srgbClr>
                </a:solidFill>
                <a:latin typeface="微软雅黑"/>
                <a:ea typeface="微软雅黑"/>
                <a:cs typeface="微软雅黑"/>
              </a:rPr>
              <a:t>前后端彻底分离：后端专注 RESTful 数据服务，前端独立开发部署，以 JSON 报文通信，共同构成高可用、易扩展的系统基座。</a:t>
            </a:r>
          </a:p>
        </p:txBody>
      </p:sp>
      <p:sp>
        <p:nvSpPr>
          <p:cNvPr id="87" name="矩形: 圆角 86">
            <a:extLst xmlns:a="http://schemas.openxmlformats.org/drawingml/2006/main">
              <a:ext uri="{FF2B5EF4-FFF2-40B4-BE49-F238E27FC236}">
                <a16:creationId xmlns:a16="http://schemas.microsoft.com/office/drawing/2014/main" id="{935F530C-5339-49AF-98FC-160DB90B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25500"/>
            <a:ext cx="1498600" cy="22225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8" name="矩形: 圆角 87">
            <a:extLst xmlns:a="http://schemas.openxmlformats.org/drawingml/2006/main">
              <a:ext uri="{FF2B5EF4-FFF2-40B4-BE49-F238E27FC236}">
                <a16:creationId xmlns:a16="http://schemas.microsoft.com/office/drawing/2014/main" id="{83B42F2E-9A13-402D-9BC1-74801F01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825500"/>
            <a:ext cx="1498600" cy="22225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9" name="矩形: 圆角 88">
            <a:extLst xmlns:a="http://schemas.openxmlformats.org/drawingml/2006/main">
              <a:ext uri="{FF2B5EF4-FFF2-40B4-BE49-F238E27FC236}">
                <a16:creationId xmlns:a16="http://schemas.microsoft.com/office/drawing/2014/main" id="{ECB360B1-1F8B-4073-9A91-7F99D1C4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825500"/>
            <a:ext cx="1498600" cy="22225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0" name="矩形: 圆角 89">
            <a:extLst xmlns:a="http://schemas.openxmlformats.org/drawingml/2006/main">
              <a:ext uri="{FF2B5EF4-FFF2-40B4-BE49-F238E27FC236}">
                <a16:creationId xmlns:a16="http://schemas.microsoft.com/office/drawing/2014/main" id="{B0F39CB3-5FB3-4CCC-A999-D7A35F12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25500"/>
            <a:ext cx="1498600" cy="22225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1" name="矩形: 圆角 90">
            <a:extLst xmlns:a="http://schemas.openxmlformats.org/drawingml/2006/main">
              <a:ext uri="{FF2B5EF4-FFF2-40B4-BE49-F238E27FC236}">
                <a16:creationId xmlns:a16="http://schemas.microsoft.com/office/drawing/2014/main" id="{46064C7D-4F57-46D5-A3E2-31639610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10000"/>
            <a:ext cx="1498600" cy="22225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2" name="矩形: 圆角 91">
            <a:extLst xmlns:a="http://schemas.openxmlformats.org/drawingml/2006/main">
              <a:ext uri="{FF2B5EF4-FFF2-40B4-BE49-F238E27FC236}">
                <a16:creationId xmlns:a16="http://schemas.microsoft.com/office/drawing/2014/main" id="{4EE71FA4-BACD-48BD-B1D2-418DF11C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3810000"/>
            <a:ext cx="1498600" cy="22225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3" name="矩形: 圆角 92">
            <a:extLst xmlns:a="http://schemas.openxmlformats.org/drawingml/2006/main">
              <a:ext uri="{FF2B5EF4-FFF2-40B4-BE49-F238E27FC236}">
                <a16:creationId xmlns:a16="http://schemas.microsoft.com/office/drawing/2014/main" id="{DE68E48C-7745-475E-B643-C0D3390A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3810000"/>
            <a:ext cx="1498600" cy="22225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4" name="矩形: 圆角 93">
            <a:extLst xmlns:a="http://schemas.openxmlformats.org/drawingml/2006/main">
              <a:ext uri="{FF2B5EF4-FFF2-40B4-BE49-F238E27FC236}">
                <a16:creationId xmlns:a16="http://schemas.microsoft.com/office/drawing/2014/main" id="{DFBE512F-FBAE-4DD3-A4AF-6B97366A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0"/>
            <a:ext cx="1498600" cy="22225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5" name="矩形: 圆角 94">
            <a:extLst xmlns:a="http://schemas.openxmlformats.org/drawingml/2006/main">
              <a:ext uri="{FF2B5EF4-FFF2-40B4-BE49-F238E27FC236}">
                <a16:creationId xmlns:a16="http://schemas.microsoft.com/office/drawing/2014/main" id="{5C963582-41E9-4B92-8E76-5EC9E28E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92300"/>
            <a:ext cx="1498600" cy="3048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SpringBoot</a:t>
            </a:r>
          </a:p>
        </p:txBody>
      </p:sp>
      <p:sp>
        <p:nvSpPr>
          <p:cNvPr id="96" name="矩形: 圆角 95">
            <a:extLst xmlns:a="http://schemas.openxmlformats.org/drawingml/2006/main">
              <a:ext uri="{FF2B5EF4-FFF2-40B4-BE49-F238E27FC236}">
                <a16:creationId xmlns:a16="http://schemas.microsoft.com/office/drawing/2014/main" id="{FA7EBE39-5FA0-4617-9295-A8A5E54D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1892300"/>
            <a:ext cx="1498600" cy="3048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Java</a:t>
            </a:r>
          </a:p>
        </p:txBody>
      </p:sp>
      <p:sp>
        <p:nvSpPr>
          <p:cNvPr id="97" name="矩形: 圆角 96">
            <a:extLst xmlns:a="http://schemas.openxmlformats.org/drawingml/2006/main">
              <a:ext uri="{FF2B5EF4-FFF2-40B4-BE49-F238E27FC236}">
                <a16:creationId xmlns:a16="http://schemas.microsoft.com/office/drawing/2014/main" id="{DC3750DA-75B1-44B3-9B70-1CA13633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1892300"/>
            <a:ext cx="1498600" cy="3048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MyBatis-Plus</a:t>
            </a:r>
          </a:p>
        </p:txBody>
      </p:sp>
      <p:sp>
        <p:nvSpPr>
          <p:cNvPr id="98" name="矩形: 圆角 97">
            <a:extLst xmlns:a="http://schemas.openxmlformats.org/drawingml/2006/main">
              <a:ext uri="{FF2B5EF4-FFF2-40B4-BE49-F238E27FC236}">
                <a16:creationId xmlns:a16="http://schemas.microsoft.com/office/drawing/2014/main" id="{6CCE5F06-D245-4D91-8A17-D501C014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92300"/>
            <a:ext cx="1498600" cy="3048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MySQL</a:t>
            </a:r>
          </a:p>
        </p:txBody>
      </p:sp>
      <p:sp>
        <p:nvSpPr>
          <p:cNvPr id="99" name="矩形: 圆角 98">
            <a:extLst xmlns:a="http://schemas.openxmlformats.org/drawingml/2006/main">
              <a:ext uri="{FF2B5EF4-FFF2-40B4-BE49-F238E27FC236}">
                <a16:creationId xmlns:a16="http://schemas.microsoft.com/office/drawing/2014/main" id="{FF8F34AB-EE14-4DA0-BD1A-DC654562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47900"/>
            <a:ext cx="1498600" cy="5080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3.2.3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服务基座</a:t>
            </a:r>
          </a:p>
        </p:txBody>
      </p:sp>
      <p:sp>
        <p:nvSpPr>
          <p:cNvPr id="100" name="矩形: 圆角 99">
            <a:extLst xmlns:a="http://schemas.openxmlformats.org/drawingml/2006/main">
              <a:ext uri="{FF2B5EF4-FFF2-40B4-BE49-F238E27FC236}">
                <a16:creationId xmlns:a16="http://schemas.microsoft.com/office/drawing/2014/main" id="{0313C315-1A44-4C69-A4BE-76EDCFB6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2247900"/>
            <a:ext cx="1498600" cy="5080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17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语言基线</a:t>
            </a:r>
          </a:p>
        </p:txBody>
      </p:sp>
      <p:sp>
        <p:nvSpPr>
          <p:cNvPr id="101" name="矩形: 圆角 100">
            <a:extLst xmlns:a="http://schemas.openxmlformats.org/drawingml/2006/main">
              <a:ext uri="{FF2B5EF4-FFF2-40B4-BE49-F238E27FC236}">
                <a16:creationId xmlns:a16="http://schemas.microsoft.com/office/drawing/2014/main" id="{01E814ED-8853-49B7-856F-D3EC90FF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2247900"/>
            <a:ext cx="1498600" cy="5080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3.5.5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数据访问</a:t>
            </a:r>
          </a:p>
        </p:txBody>
      </p:sp>
      <p:sp>
        <p:nvSpPr>
          <p:cNvPr id="102" name="矩形: 圆角 101">
            <a:extLst xmlns:a="http://schemas.openxmlformats.org/drawingml/2006/main">
              <a:ext uri="{FF2B5EF4-FFF2-40B4-BE49-F238E27FC236}">
                <a16:creationId xmlns:a16="http://schemas.microsoft.com/office/drawing/2014/main" id="{9A86CF10-F48A-4925-8098-813D58B2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47900"/>
            <a:ext cx="1498600" cy="5080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8.0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关系型存储</a:t>
            </a:r>
          </a:p>
        </p:txBody>
      </p:sp>
      <p:sp>
        <p:nvSpPr>
          <p:cNvPr id="103" name="矩形: 圆角 102">
            <a:extLst xmlns:a="http://schemas.openxmlformats.org/drawingml/2006/main">
              <a:ext uri="{FF2B5EF4-FFF2-40B4-BE49-F238E27FC236}">
                <a16:creationId xmlns:a16="http://schemas.microsoft.com/office/drawing/2014/main" id="{BD7F4E53-ECFE-452C-B5B8-83725386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76800"/>
            <a:ext cx="1498600" cy="3048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Redis</a:t>
            </a:r>
          </a:p>
        </p:txBody>
      </p:sp>
      <p:sp>
        <p:nvSpPr>
          <p:cNvPr id="104" name="矩形: 圆角 103">
            <a:extLst xmlns:a="http://schemas.openxmlformats.org/drawingml/2006/main">
              <a:ext uri="{FF2B5EF4-FFF2-40B4-BE49-F238E27FC236}">
                <a16:creationId xmlns:a16="http://schemas.microsoft.com/office/drawing/2014/main" id="{E0CD0C1C-4A74-4F76-8269-5646ECBC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4876800"/>
            <a:ext cx="1498600" cy="3048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Vue</a:t>
            </a:r>
          </a:p>
        </p:txBody>
      </p:sp>
      <p:sp>
        <p:nvSpPr>
          <p:cNvPr id="105" name="矩形: 圆角 104">
            <a:extLst xmlns:a="http://schemas.openxmlformats.org/drawingml/2006/main">
              <a:ext uri="{FF2B5EF4-FFF2-40B4-BE49-F238E27FC236}">
                <a16:creationId xmlns:a16="http://schemas.microsoft.com/office/drawing/2014/main" id="{DB68972B-36AB-4B7F-8877-A38453E2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4876800"/>
            <a:ext cx="1498600" cy="3048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TypeScript</a:t>
            </a:r>
          </a:p>
        </p:txBody>
      </p:sp>
      <p:sp>
        <p:nvSpPr>
          <p:cNvPr id="106" name="矩形: 圆角 105">
            <a:extLst xmlns:a="http://schemas.openxmlformats.org/drawingml/2006/main">
              <a:ext uri="{FF2B5EF4-FFF2-40B4-BE49-F238E27FC236}">
                <a16:creationId xmlns:a16="http://schemas.microsoft.com/office/drawing/2014/main" id="{8582B379-FA5A-4363-B52A-41A991C0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76800"/>
            <a:ext cx="1498600" cy="3048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F2329"/>
                </a:solidFill>
                <a:latin typeface="微软雅黑"/>
                <a:ea typeface="微软雅黑"/>
                <a:cs typeface="微软雅黑"/>
              </a:rPr>
              <a:t>Tiptap</a:t>
            </a:r>
          </a:p>
        </p:txBody>
      </p:sp>
      <p:sp>
        <p:nvSpPr>
          <p:cNvPr id="107" name="矩形: 圆角 106">
            <a:extLst xmlns:a="http://schemas.openxmlformats.org/drawingml/2006/main">
              <a:ext uri="{FF2B5EF4-FFF2-40B4-BE49-F238E27FC236}">
                <a16:creationId xmlns:a16="http://schemas.microsoft.com/office/drawing/2014/main" id="{D3574D78-A412-4B85-9CA6-2FA6C38A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32400"/>
            <a:ext cx="1498600" cy="5080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7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缓存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幂等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锁</a:t>
            </a:r>
          </a:p>
        </p:txBody>
      </p:sp>
      <p:sp>
        <p:nvSpPr>
          <p:cNvPr id="108" name="矩形: 圆角 107">
            <a:extLst xmlns:a="http://schemas.openxmlformats.org/drawingml/2006/main">
              <a:ext uri="{FF2B5EF4-FFF2-40B4-BE49-F238E27FC236}">
                <a16:creationId xmlns:a16="http://schemas.microsoft.com/office/drawing/2014/main" id="{06BF3411-75A1-4763-9B4C-277DD71A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5232400"/>
            <a:ext cx="1498600" cy="5080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3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响应式组件化</a:t>
            </a:r>
          </a:p>
        </p:txBody>
      </p:sp>
      <p:sp>
        <p:nvSpPr>
          <p:cNvPr id="109" name="矩形: 圆角 108">
            <a:extLst xmlns:a="http://schemas.openxmlformats.org/drawingml/2006/main">
              <a:ext uri="{FF2B5EF4-FFF2-40B4-BE49-F238E27FC236}">
                <a16:creationId xmlns:a16="http://schemas.microsoft.com/office/drawing/2014/main" id="{7AF71405-B1DC-490C-9F4C-D177577E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5232400"/>
            <a:ext cx="1498600" cy="5080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强类型约束</a:t>
            </a:r>
          </a:p>
        </p:txBody>
      </p:sp>
      <p:sp>
        <p:nvSpPr>
          <p:cNvPr id="110" name="矩形: 圆角 109">
            <a:extLst xmlns:a="http://schemas.openxmlformats.org/drawingml/2006/main">
              <a:ext uri="{FF2B5EF4-FFF2-40B4-BE49-F238E27FC236}">
                <a16:creationId xmlns:a16="http://schemas.microsoft.com/office/drawing/2014/main" id="{82DF0865-1187-49AA-8B20-7B093D89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32400"/>
            <a:ext cx="1498600" cy="508000"/>
          </a:xfrm>
          <a:prstGeom xmlns:a="http://schemas.openxmlformats.org/drawingml/2006/main" prst="roundRect">
            <a:avLst>
              <a:gd name="adj" fmla="val 437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Markdown </a:t>
            </a:r>
            <a:r>
              <a:rPr sz="90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编辑渲染</a:t>
            </a:r>
          </a:p>
        </p:txBody>
      </p:sp>
      <p:pic>
        <p:nvPicPr>
          <p:cNvPr id="146" name="图片 1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8a39c542c4b63"/>
          <a:stretch xmlns:a="http://schemas.openxmlformats.org/drawingml/2006/main"/>
        </p:blipFill>
        <p:spPr>
          <a:xfrm xmlns:a="http://schemas.openxmlformats.org/drawingml/2006/main">
            <a:off x="5803900" y="1181100"/>
            <a:ext cx="558800" cy="558800"/>
          </a:xfrm>
          <a:prstGeom xmlns:a="http://schemas.openxmlformats.org/drawingml/2006/main" prst="rect">
            <a:avLst/>
          </a:prstGeom>
        </p:spPr>
      </p:pic>
      <p:pic>
        <p:nvPicPr>
          <p:cNvPr id="147" name="图片 1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9ad635cf21414b"/>
          <a:stretch xmlns:a="http://schemas.openxmlformats.org/drawingml/2006/main"/>
        </p:blipFill>
        <p:spPr>
          <a:xfrm xmlns:a="http://schemas.openxmlformats.org/drawingml/2006/main">
            <a:off x="7454900" y="1181100"/>
            <a:ext cx="558800" cy="558800"/>
          </a:xfrm>
          <a:prstGeom xmlns:a="http://schemas.openxmlformats.org/drawingml/2006/main" prst="rect">
            <a:avLst/>
          </a:prstGeom>
        </p:spPr>
      </p:pic>
      <p:pic>
        <p:nvPicPr>
          <p:cNvPr id="148" name="图片 1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d91beda62342ff"/>
          <a:stretch xmlns:a="http://schemas.openxmlformats.org/drawingml/2006/main"/>
        </p:blipFill>
        <p:spPr>
          <a:xfrm xmlns:a="http://schemas.openxmlformats.org/drawingml/2006/main">
            <a:off x="8775700" y="1308100"/>
            <a:ext cx="1212272" cy="304800"/>
          </a:xfrm>
          <a:prstGeom xmlns:a="http://schemas.openxmlformats.org/drawingml/2006/main" prst="rect">
            <a:avLst/>
          </a:prstGeom>
        </p:spPr>
      </p:pic>
      <p:pic>
        <p:nvPicPr>
          <p:cNvPr id="149" name="图片 1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33564aaff4d60"/>
          <a:stretch xmlns:a="http://schemas.openxmlformats.org/drawingml/2006/main"/>
        </p:blipFill>
        <p:spPr>
          <a:xfrm xmlns:a="http://schemas.openxmlformats.org/drawingml/2006/main">
            <a:off x="10756900" y="1181100"/>
            <a:ext cx="558800" cy="558800"/>
          </a:xfrm>
          <a:prstGeom xmlns:a="http://schemas.openxmlformats.org/drawingml/2006/main" prst="rect">
            <a:avLst/>
          </a:prstGeom>
        </p:spPr>
      </p:pic>
      <p:pic>
        <p:nvPicPr>
          <p:cNvPr id="150" name="图片 1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7727afb414e40"/>
          <a:stretch xmlns:a="http://schemas.openxmlformats.org/drawingml/2006/main"/>
        </p:blipFill>
        <p:spPr>
          <a:xfrm xmlns:a="http://schemas.openxmlformats.org/drawingml/2006/main">
            <a:off x="5803900" y="4165600"/>
            <a:ext cx="558800" cy="558800"/>
          </a:xfrm>
          <a:prstGeom xmlns:a="http://schemas.openxmlformats.org/drawingml/2006/main" prst="rect">
            <a:avLst/>
          </a:prstGeom>
        </p:spPr>
      </p:pic>
      <p:pic>
        <p:nvPicPr>
          <p:cNvPr id="151" name="图片 1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d83d357704973"/>
          <a:stretch xmlns:a="http://schemas.openxmlformats.org/drawingml/2006/main"/>
        </p:blipFill>
        <p:spPr>
          <a:xfrm xmlns:a="http://schemas.openxmlformats.org/drawingml/2006/main">
            <a:off x="7454900" y="4165600"/>
            <a:ext cx="558800" cy="558800"/>
          </a:xfrm>
          <a:prstGeom xmlns:a="http://schemas.openxmlformats.org/drawingml/2006/main" prst="rect">
            <a:avLst/>
          </a:prstGeom>
        </p:spPr>
      </p:pic>
      <p:pic>
        <p:nvPicPr>
          <p:cNvPr id="152" name="图片 1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f5d1ea4524649"/>
          <a:stretch xmlns:a="http://schemas.openxmlformats.org/drawingml/2006/main"/>
        </p:blipFill>
        <p:spPr>
          <a:xfrm xmlns:a="http://schemas.openxmlformats.org/drawingml/2006/main">
            <a:off x="9105900" y="4165600"/>
            <a:ext cx="558800" cy="558800"/>
          </a:xfrm>
          <a:prstGeom xmlns:a="http://schemas.openxmlformats.org/drawingml/2006/main" prst="rect">
            <a:avLst/>
          </a:prstGeom>
        </p:spPr>
      </p:pic>
      <p:pic>
        <p:nvPicPr>
          <p:cNvPr id="153" name="图片 1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d6c8a5c024e80"/>
          <a:stretch xmlns:a="http://schemas.openxmlformats.org/drawingml/2006/main"/>
        </p:blipFill>
        <p:spPr>
          <a:xfrm xmlns:a="http://schemas.openxmlformats.org/drawingml/2006/main">
            <a:off x="10756900" y="4165600"/>
            <a:ext cx="558800" cy="558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24503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2FC44AB-6B03-4AB0-B263-8CC80CA8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528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rPr>
              <a:t>项目模块与技术栈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91232-8A4B-429A-8CE6-0AE766FC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66725"/>
            <a:ext cx="566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6A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46A72"/>
                </a:solidFill>
                <a:latin typeface="微软雅黑"/>
                <a:ea typeface="微软雅黑"/>
                <a:cs typeface="微软雅黑"/>
              </a:rPr>
              <a:t>CODE-VERIFIED  /  以当前 pom.xml · package.json · Docker Compose 为准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7DF82-4C17-477A-9820-38637471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057275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22FE2-3250-495A-8DCA-9508A091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334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6A7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46A72"/>
                </a:solidFill>
                <a:latin typeface="微软雅黑"/>
                <a:ea typeface="微软雅黑"/>
                <a:cs typeface="微软雅黑"/>
              </a:rPr>
              <a:t>Vue 前端经 Gateway 接入 6 个业务服务，Outbox + RabbitMQ 串联审核、通知与搜索链路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52F18-295E-4F6B-B00E-5B77B369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334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646A7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46A72"/>
                </a:solidFill>
                <a:latin typeface="Arial"/>
                <a:ea typeface="Arial"/>
                <a:cs typeface="Arial"/>
              </a:rPr>
              <a:t>校验日期 2026.09.13</a:t>
            </a:r>
          </a:p>
        </p:txBody>
      </p:sp>
      <p:sp>
        <p:nvSpPr>
          <p:cNvPr id="6" name="service-group-访问与身份">
            <a:extLst xmlns:a="http://schemas.openxmlformats.org/drawingml/2006/main">
              <a:ext uri="{FF2B5EF4-FFF2-40B4-BE49-F238E27FC236}">
                <a16:creationId xmlns:a16="http://schemas.microsoft.com/office/drawing/2014/main" id="{B3984097-6181-416D-9C54-4120576D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3505200" cy="3114675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1F2F4">
              <a:alpha val="95000"/>
            </a:srgbClr>
          </a:solidFill>
          <a:ln xmlns:a="http://schemas.openxmlformats.org/drawingml/2006/main" w="9525">
            <a:solidFill>
              <a:srgbClr val="FFFFFF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63C7B-6C4A-4FCA-B37D-F7593290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57150" cy="504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8E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60364-A6DD-4734-98AD-C2C42728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859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0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055b6d21b34278">
            <a:extLst>
              <a:ext uri="{96DAC541-7B7A-43D3-8B79-37D633B846F1}">
                <asvg:svgBlip xmlns:asvg="http://schemas.microsoft.com/office/drawing/2016/SVG/main" r:embed="R47e61ba2bff94a6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9175" y="16097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3BABE-F1C1-4711-AA9D-2536CF6D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4573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rPr>
              <a:t>访问与身份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6A1EB-D50E-4366-AC3F-577BD9B7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43075"/>
            <a:ext cx="2266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6A72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646A72"/>
                </a:solidFill>
                <a:latin typeface="微软雅黑"/>
                <a:ea typeface="微软雅黑"/>
                <a:cs typeface="微软雅黑"/>
              </a:rPr>
              <a:t>前端入口、路由治理与用户事实</a:t>
            </a:r>
          </a:p>
        </p:txBody>
      </p:sp>
      <p:sp>
        <p:nvSpPr>
          <p:cNvPr id="12" name="module-Vue 前端应用">
            <a:extLst xmlns:a="http://schemas.openxmlformats.org/drawingml/2006/main">
              <a:ext uri="{FF2B5EF4-FFF2-40B4-BE49-F238E27FC236}">
                <a16:creationId xmlns:a16="http://schemas.microsoft.com/office/drawing/2014/main" id="{22E7C99B-6FDC-4CD2-8EF8-E95ACE92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3124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92000"/>
            </a:srgbClr>
          </a:solidFill>
          <a:ln xmlns:a="http://schemas.openxmlformats.org/drawingml/2006/main" w="9525">
            <a:solidFill>
              <a:srgbClr val="DFE2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00844-4003-4625-9B5B-31406133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0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93ee9c6564e88">
            <a:extLst>
              <a:ext uri="{96DAC541-7B7A-43D3-8B79-37D633B846F1}">
                <asvg:svgBlip xmlns:asvg="http://schemas.microsoft.com/office/drawing/2016/SVG/main" r:embed="R79cbda46f07f43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3450" y="2343150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02481A-A581-404F-B164-C1E7B299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00275"/>
            <a:ext cx="2352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52A3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252A31"/>
                </a:solidFill>
                <a:latin typeface="微软雅黑"/>
                <a:ea typeface="微软雅黑"/>
                <a:cs typeface="微软雅黑"/>
              </a:rPr>
              <a:t>Vue 前端应用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7C83E9-C8C2-4FE6-80A0-F8A1A487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1935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46A72"/>
                </a:solidFill>
                <a:latin typeface="微软雅黑"/>
                <a:ea typeface="微软雅黑"/>
                <a:cs typeface="微软雅黑"/>
              </a:defRPr>
            </a:pPr>
            <a:r>
              <a:rPr sz="810" b="0">
                <a:solidFill>
                  <a:srgbClr val="646A72"/>
                </a:solidFill>
                <a:latin typeface="微软雅黑"/>
                <a:ea typeface="微软雅黑"/>
                <a:cs typeface="微软雅黑"/>
              </a:rPr>
              <a:t>浏览、创作后台与 AI 润色入口</a:t>
            </a:r>
          </a:p>
        </p:txBody>
      </p:sp>
      <p:sp>
        <p:nvSpPr>
          <p:cNvPr id="17" name="module-gateway-service">
            <a:extLst xmlns:a="http://schemas.openxmlformats.org/drawingml/2006/main">
              <a:ext uri="{FF2B5EF4-FFF2-40B4-BE49-F238E27FC236}">
                <a16:creationId xmlns:a16="http://schemas.microsoft.com/office/drawing/2014/main" id="{8A6CFBB4-BC5E-4682-BDF2-4A8BC3E2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3124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92000"/>
            </a:srgbClr>
          </a:solidFill>
          <a:ln xmlns:a="http://schemas.openxmlformats.org/drawingml/2006/main" w="9525">
            <a:solidFill>
              <a:srgbClr val="DFE2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58859F-B89D-4858-B333-6DE0FEE6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0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c2a03ff274922">
            <a:extLst>
              <a:ext uri="{96DAC541-7B7A-43D3-8B79-37D633B846F1}">
                <asvg:svgBlip xmlns:asvg="http://schemas.microsoft.com/office/drawing/2016/SVG/main" r:embed="R7669eb1f0df841d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3450" y="3009900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15A076-E46B-4359-AC31-F1998718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67025"/>
            <a:ext cx="2352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52A3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252A31"/>
                </a:solidFill>
                <a:latin typeface="微软雅黑"/>
                <a:ea typeface="微软雅黑"/>
                <a:cs typeface="微软雅黑"/>
              </a:rPr>
              <a:t>gateway-service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3F9B3A-717C-4F63-82CC-E4F236CD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861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46A72"/>
                </a:solidFill>
                <a:latin typeface="微软雅黑"/>
                <a:ea typeface="微软雅黑"/>
                <a:cs typeface="微软雅黑"/>
              </a:defRPr>
            </a:pPr>
            <a:r>
              <a:rPr sz="810" b="0">
                <a:solidFill>
                  <a:srgbClr val="646A72"/>
                </a:solidFill>
                <a:latin typeface="微软雅黑"/>
                <a:ea typeface="微软雅黑"/>
                <a:cs typeface="微软雅黑"/>
              </a:rPr>
              <a:t>路由、JWT 校验、限流与身份头</a:t>
            </a:r>
          </a:p>
        </p:txBody>
      </p:sp>
      <p:sp>
        <p:nvSpPr>
          <p:cNvPr id="22" name="module-auth-service">
            <a:extLst xmlns:a="http://schemas.openxmlformats.org/drawingml/2006/main">
              <a:ext uri="{FF2B5EF4-FFF2-40B4-BE49-F238E27FC236}">
                <a16:creationId xmlns:a16="http://schemas.microsoft.com/office/drawing/2014/main" id="{C29F6E29-FBC8-4053-8C28-C2DF8D1B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3124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92000"/>
            </a:srgbClr>
          </a:solidFill>
          <a:ln xmlns:a="http://schemas.openxmlformats.org/drawingml/2006/main" w="9525">
            <a:solidFill>
              <a:srgbClr val="DFE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B308E9-3892-4FEC-9740-FFF75977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0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13dc4463f4289">
            <a:extLst>
              <a:ext uri="{96DAC541-7B7A-43D3-8B79-37D633B846F1}">
                <asvg:svgBlip xmlns:asvg="http://schemas.microsoft.com/office/drawing/2016/SVG/main" r:embed="Re60128945ec94f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3450" y="3676650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30FB03-D1AA-4103-95E2-6A9E8A9F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2352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52A3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252A31"/>
                </a:solidFill>
                <a:latin typeface="微软雅黑"/>
                <a:ea typeface="微软雅黑"/>
                <a:cs typeface="微软雅黑"/>
              </a:rPr>
              <a:t>auth-service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80173D-909F-4B7F-B6D3-C55E58D4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5285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46A72"/>
                </a:solidFill>
                <a:latin typeface="微软雅黑"/>
                <a:ea typeface="微软雅黑"/>
                <a:cs typeface="微软雅黑"/>
              </a:defRPr>
            </a:pPr>
            <a:r>
              <a:rPr sz="810" b="0">
                <a:solidFill>
                  <a:srgbClr val="646A72"/>
                </a:solidFill>
                <a:latin typeface="微软雅黑"/>
                <a:ea typeface="微软雅黑"/>
                <a:cs typeface="微软雅黑"/>
              </a:rPr>
              <a:t>注册、登录、找回密码与用户资料</a:t>
            </a:r>
          </a:p>
        </p:txBody>
      </p:sp>
      <p:sp>
        <p:nvSpPr>
          <p:cNvPr id="27" name="service-group-内容主链路">
            <a:extLst xmlns:a="http://schemas.openxmlformats.org/drawingml/2006/main">
              <a:ext uri="{FF2B5EF4-FFF2-40B4-BE49-F238E27FC236}">
                <a16:creationId xmlns:a16="http://schemas.microsoft.com/office/drawing/2014/main" id="{1BDBE5D8-4E3A-4705-BD8A-FCFD4493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04925"/>
            <a:ext cx="3505200" cy="3114675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1F2F4">
              <a:alpha val="95000"/>
            </a:srgbClr>
          </a:solidFill>
          <a:ln xmlns:a="http://schemas.openxmlformats.org/drawingml/2006/main" w="9525">
            <a:solidFill>
              <a:srgbClr val="FFFFFF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A80D75-6F64-4077-9BB0-CB357244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04950"/>
            <a:ext cx="57150" cy="504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7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66BEF9-2741-4335-9AEC-F5AFE762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4859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55da3cb5a47e1">
            <a:extLst>
              <a:ext uri="{96DAC541-7B7A-43D3-8B79-37D633B846F1}">
                <asvg:svgBlip xmlns:asvg="http://schemas.microsoft.com/office/drawing/2016/SVG/main" r:embed="R5b42bcccb6e946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29175" y="16097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C2BD21-5DA0-4B05-B04B-EA54EBCE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4573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rPr>
              <a:t>内容主链路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33FAA2-43F7-41B7-BD52-D5378B8B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43075"/>
            <a:ext cx="2266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6A72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646A72"/>
                </a:solidFill>
                <a:latin typeface="微软雅黑"/>
                <a:ea typeface="微软雅黑"/>
                <a:cs typeface="微软雅黑"/>
              </a:rPr>
              <a:t>文章真源、审核决策与公开检索</a:t>
            </a:r>
          </a:p>
        </p:txBody>
      </p:sp>
      <p:sp>
        <p:nvSpPr>
          <p:cNvPr id="33" name="module-content-service">
            <a:extLst xmlns:a="http://schemas.openxmlformats.org/drawingml/2006/main">
              <a:ext uri="{FF2B5EF4-FFF2-40B4-BE49-F238E27FC236}">
                <a16:creationId xmlns:a16="http://schemas.microsoft.com/office/drawing/2014/main" id="{50243838-5208-4A87-B29E-F4D0E7B6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33600"/>
            <a:ext cx="3124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92000"/>
            </a:srgbClr>
          </a:solidFill>
          <a:ln xmlns:a="http://schemas.openxmlformats.org/drawingml/2006/main" w="9525">
            <a:solidFill>
              <a:srgbClr val="DFE2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F78C24-FD2B-451E-9152-C8186F10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86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e81753b7343c3">
            <a:extLst>
              <a:ext uri="{96DAC541-7B7A-43D3-8B79-37D633B846F1}">
                <asvg:svgBlip xmlns:asvg="http://schemas.microsoft.com/office/drawing/2016/SVG/main" r:embed="Ra854b01533a341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43450" y="2343150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977CDB-8E30-4234-BB5F-3C8C5918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00275"/>
            <a:ext cx="2352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52A3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252A31"/>
                </a:solidFill>
                <a:latin typeface="微软雅黑"/>
                <a:ea typeface="微软雅黑"/>
                <a:cs typeface="微软雅黑"/>
              </a:rPr>
              <a:t>content-service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41ED75-785C-4E3E-A4CA-B1FE5806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1935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46A72"/>
                </a:solidFill>
                <a:latin typeface="微软雅黑"/>
                <a:ea typeface="微软雅黑"/>
                <a:cs typeface="微软雅黑"/>
              </a:defRPr>
            </a:pPr>
            <a:r>
              <a:rPr sz="810" b="0">
                <a:solidFill>
                  <a:srgbClr val="646A72"/>
                </a:solidFill>
                <a:latin typeface="微软雅黑"/>
                <a:ea typeface="微软雅黑"/>
                <a:cs typeface="微软雅黑"/>
              </a:rPr>
              <a:t>文章、草稿、提审与 DeepSeek 润色</a:t>
            </a:r>
          </a:p>
        </p:txBody>
      </p:sp>
      <p:sp>
        <p:nvSpPr>
          <p:cNvPr id="38" name="module-review-service">
            <a:extLst xmlns:a="http://schemas.openxmlformats.org/drawingml/2006/main">
              <a:ext uri="{FF2B5EF4-FFF2-40B4-BE49-F238E27FC236}">
                <a16:creationId xmlns:a16="http://schemas.microsoft.com/office/drawing/2014/main" id="{4D3753D0-3642-4D2D-AA6B-58DD8FA9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00350"/>
            <a:ext cx="3124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92000"/>
            </a:srgbClr>
          </a:solidFill>
          <a:ln xmlns:a="http://schemas.openxmlformats.org/drawingml/2006/main" w="9525">
            <a:solidFill>
              <a:srgbClr val="DFE2E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D3B05D-056A-4070-89E7-8FEB666E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d7af68ce0438c">
            <a:extLst>
              <a:ext uri="{96DAC541-7B7A-43D3-8B79-37D633B846F1}">
                <asvg:svgBlip xmlns:asvg="http://schemas.microsoft.com/office/drawing/2016/SVG/main" r:embed="R3ed1e03f707744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43450" y="3009900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821BD8-237B-47F5-965F-68D187AF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67025"/>
            <a:ext cx="2352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52A3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252A31"/>
                </a:solidFill>
                <a:latin typeface="微软雅黑"/>
                <a:ea typeface="微软雅黑"/>
                <a:cs typeface="微软雅黑"/>
              </a:rPr>
              <a:t>review-service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206542-1F54-4008-AE91-940F15E3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46A72"/>
                </a:solidFill>
                <a:latin typeface="微软雅黑"/>
                <a:ea typeface="微软雅黑"/>
                <a:cs typeface="微软雅黑"/>
              </a:defRPr>
            </a:pPr>
            <a:r>
              <a:rPr sz="810" b="0">
                <a:solidFill>
                  <a:srgbClr val="646A72"/>
                </a:solidFill>
                <a:latin typeface="微软雅黑"/>
                <a:ea typeface="微软雅黑"/>
                <a:cs typeface="微软雅黑"/>
              </a:rPr>
              <a:t>审核待办、决策、日志与投影</a:t>
            </a:r>
          </a:p>
        </p:txBody>
      </p:sp>
      <p:sp>
        <p:nvSpPr>
          <p:cNvPr id="43" name="module-search-service">
            <a:extLst xmlns:a="http://schemas.openxmlformats.org/drawingml/2006/main">
              <a:ext uri="{FF2B5EF4-FFF2-40B4-BE49-F238E27FC236}">
                <a16:creationId xmlns:a16="http://schemas.microsoft.com/office/drawing/2014/main" id="{12FC9DF4-E209-4597-BC9C-014E5696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67100"/>
            <a:ext cx="3124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92000"/>
            </a:srgbClr>
          </a:solidFill>
          <a:ln xmlns:a="http://schemas.openxmlformats.org/drawingml/2006/main" w="9525">
            <a:solidFill>
              <a:srgbClr val="DFE2E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689D89-D020-424F-85A5-B97E3DD3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C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032f90f00945bc">
            <a:extLst>
              <a:ext uri="{96DAC541-7B7A-43D3-8B79-37D633B846F1}">
                <asvg:svgBlip xmlns:asvg="http://schemas.microsoft.com/office/drawing/2016/SVG/main" r:embed="R1db351ded1974f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43450" y="3676650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68B69D-8B49-4E6E-9073-ECF6A399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33775"/>
            <a:ext cx="2352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52A3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252A31"/>
                </a:solidFill>
                <a:latin typeface="微软雅黑"/>
                <a:ea typeface="微软雅黑"/>
                <a:cs typeface="微软雅黑"/>
              </a:rPr>
              <a:t>search-service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C10C67-2146-4BC4-85EB-33876B03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5285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46A72"/>
                </a:solidFill>
                <a:latin typeface="微软雅黑"/>
                <a:ea typeface="微软雅黑"/>
                <a:cs typeface="微软雅黑"/>
              </a:defRPr>
            </a:pPr>
            <a:r>
              <a:rPr sz="810" b="0">
                <a:solidFill>
                  <a:srgbClr val="646A72"/>
                </a:solidFill>
                <a:latin typeface="微软雅黑"/>
                <a:ea typeface="微软雅黑"/>
                <a:cs typeface="微软雅黑"/>
              </a:rPr>
              <a:t>公开搜索与文章事件消费</a:t>
            </a:r>
          </a:p>
        </p:txBody>
      </p:sp>
      <p:sp>
        <p:nvSpPr>
          <p:cNvPr id="48" name="service-group-基础支撑">
            <a:extLst xmlns:a="http://schemas.openxmlformats.org/drawingml/2006/main">
              <a:ext uri="{FF2B5EF4-FFF2-40B4-BE49-F238E27FC236}">
                <a16:creationId xmlns:a16="http://schemas.microsoft.com/office/drawing/2014/main" id="{D2277804-7CA4-44C0-9305-E6A455FF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04925"/>
            <a:ext cx="3505200" cy="3114675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1F2F4">
              <a:alpha val="95000"/>
            </a:srgbClr>
          </a:solidFill>
          <a:ln xmlns:a="http://schemas.openxmlformats.org/drawingml/2006/main" w="9525">
            <a:solidFill>
              <a:srgbClr val="FFFFFF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DF478C-13F7-4A8D-A045-F09FCAB2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04950"/>
            <a:ext cx="57150" cy="504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3AC754-8746-4786-96C3-9886CD16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859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7003dfd6f4a75">
            <a:extLst>
              <a:ext uri="{96DAC541-7B7A-43D3-8B79-37D633B846F1}">
                <asvg:svgBlip xmlns:asvg="http://schemas.microsoft.com/office/drawing/2016/SVG/main" r:embed="R970dbe20cd494f3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39175" y="16097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4CC150-5403-48C7-A5E5-9E1853E4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573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rPr>
              <a:t>基础支撑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F35F449-532C-4BD5-A7C5-913EBB6C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43075"/>
            <a:ext cx="2266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6A72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646A72"/>
                </a:solidFill>
                <a:latin typeface="微软雅黑"/>
                <a:ea typeface="微软雅黑"/>
                <a:cs typeface="微软雅黑"/>
              </a:rPr>
              <a:t>媒体、消息投递与事件基础设施</a:t>
            </a:r>
          </a:p>
        </p:txBody>
      </p:sp>
      <p:sp>
        <p:nvSpPr>
          <p:cNvPr id="54" name="module-file-service">
            <a:extLst xmlns:a="http://schemas.openxmlformats.org/drawingml/2006/main">
              <a:ext uri="{FF2B5EF4-FFF2-40B4-BE49-F238E27FC236}">
                <a16:creationId xmlns:a16="http://schemas.microsoft.com/office/drawing/2014/main" id="{BBEE148E-A3CF-48E8-9EA0-841D7283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33600"/>
            <a:ext cx="3124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92000"/>
            </a:srgbClr>
          </a:solidFill>
          <a:ln xmlns:a="http://schemas.openxmlformats.org/drawingml/2006/main" w="9525">
            <a:solidFill>
              <a:srgbClr val="DFE2E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E42574E-FD46-48C8-94BC-9154FDB5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86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00957f0ab4fe9">
            <a:extLst>
              <a:ext uri="{96DAC541-7B7A-43D3-8B79-37D633B846F1}">
                <asvg:svgBlip xmlns:asvg="http://schemas.microsoft.com/office/drawing/2016/SVG/main" r:embed="Raa3265f676d34b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53450" y="2343150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D7CE2DB-4EC1-46F8-A174-7771E491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00275"/>
            <a:ext cx="2352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52A3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252A31"/>
                </a:solidFill>
                <a:latin typeface="微软雅黑"/>
                <a:ea typeface="微软雅黑"/>
                <a:cs typeface="微软雅黑"/>
              </a:rPr>
              <a:t>file-service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EE656FE-CC4D-41C3-8CA3-E5501D22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1935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46A72"/>
                </a:solidFill>
                <a:latin typeface="微软雅黑"/>
                <a:ea typeface="微软雅黑"/>
                <a:cs typeface="微软雅黑"/>
              </a:defRPr>
            </a:pPr>
            <a:r>
              <a:rPr sz="810" b="0">
                <a:solidFill>
                  <a:srgbClr val="646A72"/>
                </a:solidFill>
                <a:latin typeface="微软雅黑"/>
                <a:ea typeface="微软雅黑"/>
                <a:cs typeface="微软雅黑"/>
              </a:rPr>
              <a:t>图片上传与静态文件访问</a:t>
            </a:r>
          </a:p>
        </p:txBody>
      </p:sp>
      <p:sp>
        <p:nvSpPr>
          <p:cNvPr id="59" name="module-notification-service">
            <a:extLst xmlns:a="http://schemas.openxmlformats.org/drawingml/2006/main">
              <a:ext uri="{FF2B5EF4-FFF2-40B4-BE49-F238E27FC236}">
                <a16:creationId xmlns:a16="http://schemas.microsoft.com/office/drawing/2014/main" id="{E980D232-6E33-4731-9B31-585A0A4D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00350"/>
            <a:ext cx="3124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92000"/>
            </a:srgbClr>
          </a:solidFill>
          <a:ln xmlns:a="http://schemas.openxmlformats.org/drawingml/2006/main" w="9525">
            <a:solidFill>
              <a:srgbClr val="DFE2E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4D2CF13-50B1-4068-8032-7708FB43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f4499a8e34e3b">
            <a:extLst>
              <a:ext uri="{96DAC541-7B7A-43D3-8B79-37D633B846F1}">
                <asvg:svgBlip xmlns:asvg="http://schemas.microsoft.com/office/drawing/2016/SVG/main" r:embed="R91d58e6d0db24ef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53450" y="3009900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E268143-DB63-4CD3-A1A4-38E8E91F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67025"/>
            <a:ext cx="2352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52A3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252A31"/>
                </a:solidFill>
                <a:latin typeface="微软雅黑"/>
                <a:ea typeface="微软雅黑"/>
                <a:cs typeface="微软雅黑"/>
              </a:rPr>
              <a:t>notification-service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B689F5C-9624-4E1F-8F9D-33778745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861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46A72"/>
                </a:solidFill>
                <a:latin typeface="微软雅黑"/>
                <a:ea typeface="微软雅黑"/>
                <a:cs typeface="微软雅黑"/>
              </a:defRPr>
            </a:pPr>
            <a:r>
              <a:rPr sz="810" b="0">
                <a:solidFill>
                  <a:srgbClr val="646A72"/>
                </a:solidFill>
                <a:latin typeface="微软雅黑"/>
                <a:ea typeface="微软雅黑"/>
                <a:cs typeface="微软雅黑"/>
              </a:rPr>
              <a:t>通知消费、站内通知与投递记录</a:t>
            </a:r>
          </a:p>
        </p:txBody>
      </p:sp>
      <p:sp>
        <p:nvSpPr>
          <p:cNvPr id="64" name="module-platform-events">
            <a:extLst xmlns:a="http://schemas.openxmlformats.org/drawingml/2006/main">
              <a:ext uri="{FF2B5EF4-FFF2-40B4-BE49-F238E27FC236}">
                <a16:creationId xmlns:a16="http://schemas.microsoft.com/office/drawing/2014/main" id="{CDEC72AF-8951-4660-B456-27BF0F87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67100"/>
            <a:ext cx="3124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92000"/>
            </a:srgbClr>
          </a:solidFill>
          <a:ln xmlns:a="http://schemas.openxmlformats.org/drawingml/2006/main" w="9525">
            <a:solidFill>
              <a:srgbClr val="DFE2E6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25B48DB-D666-4C9B-95B7-44193E24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4a2cf2016f451e">
            <a:extLst>
              <a:ext uri="{96DAC541-7B7A-43D3-8B79-37D633B846F1}">
                <asvg:svgBlip xmlns:asvg="http://schemas.microsoft.com/office/drawing/2016/SVG/main" r:embed="Ra75d47b356eb4b7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53450" y="3676650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1DB1475-4095-4C7C-A331-01E5698C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33775"/>
            <a:ext cx="2352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52A3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252A31"/>
                </a:solidFill>
                <a:latin typeface="微软雅黑"/>
                <a:ea typeface="微软雅黑"/>
                <a:cs typeface="微软雅黑"/>
              </a:rPr>
              <a:t>platform-events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A6DE025-6281-4077-B0EA-00062C68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5285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46A72"/>
                </a:solidFill>
                <a:latin typeface="微软雅黑"/>
                <a:ea typeface="微软雅黑"/>
                <a:cs typeface="微软雅黑"/>
              </a:defRPr>
            </a:pPr>
            <a:r>
              <a:rPr sz="810" b="0">
                <a:solidFill>
                  <a:srgbClr val="646A72"/>
                </a:solidFill>
                <a:latin typeface="微软雅黑"/>
                <a:ea typeface="微软雅黑"/>
                <a:cs typeface="微软雅黑"/>
              </a:rPr>
              <a:t>Outbox、RabbitMQ 拓扑与消费基座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6B1C970-4BED-4406-889E-FEA24EF6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791075"/>
            <a:ext cx="1190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52A31"/>
                </a:solidFill>
                <a:latin typeface="微软雅黑"/>
                <a:ea typeface="微软雅黑"/>
                <a:cs typeface="微软雅黑"/>
              </a:rPr>
              <a:t>技术栈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C71827C-8514-4919-9B0D-8B362052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0958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6A72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646A72"/>
                </a:solidFill>
                <a:latin typeface="微软雅黑"/>
                <a:ea typeface="微软雅黑"/>
                <a:cs typeface="微软雅黑"/>
              </a:rPr>
              <a:t>当前仓库依赖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2DF5840-70CB-4C6C-862B-DC83EDB0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3244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6A72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646A72"/>
                </a:solidFill>
                <a:latin typeface="微软雅黑"/>
                <a:ea typeface="微软雅黑"/>
                <a:cs typeface="微软雅黑"/>
              </a:rPr>
              <a:t>后端 · 中间件 · 前端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4C91927-8710-458C-ACB4-F5CF86EC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5530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6A72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646A72"/>
                </a:solidFill>
                <a:latin typeface="微软雅黑"/>
                <a:ea typeface="微软雅黑"/>
                <a:cs typeface="微软雅黑"/>
              </a:rPr>
              <a:t>版本来自本地配置</a:t>
            </a:r>
          </a:p>
        </p:txBody>
      </p:sp>
      <p:sp>
        <p:nvSpPr>
          <p:cNvPr id="73" name="tech-Java 17">
            <a:extLst xmlns:a="http://schemas.openxmlformats.org/drawingml/2006/main">
              <a:ext uri="{FF2B5EF4-FFF2-40B4-BE49-F238E27FC236}">
                <a16:creationId xmlns:a16="http://schemas.microsoft.com/office/drawing/2014/main" id="{DA937A25-EB92-4181-B53C-C2EEA4F0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91075"/>
            <a:ext cx="1562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F5F6">
              <a:alpha val="96000"/>
            </a:srgbClr>
          </a:solidFill>
          <a:ln xmlns:a="http://schemas.openxmlformats.org/drawingml/2006/main" w="9525">
            <a:solidFill>
              <a:srgbClr val="FFFFFF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959D963-0910-4BD0-AC3C-1E80F9FA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76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6E9"/>
            </a:solidFill>
            <a:prstDash val="solid"/>
          </a:ln>
        </p:spPr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b33b850d35420d"/>
          <a:stretch xmlns:a="http://schemas.openxmlformats.org/drawingml/2006/main"/>
        </p:blipFill>
        <p:spPr>
          <a:xfrm xmlns:a="http://schemas.openxmlformats.org/drawingml/2006/main">
            <a:off x="2100263" y="4929188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B002033-C185-4738-8CCB-3B58D791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857750"/>
            <a:ext cx="97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52A31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252A31"/>
                </a:solidFill>
                <a:latin typeface="Arial"/>
                <a:ea typeface="Arial"/>
                <a:cs typeface="Arial"/>
              </a:rPr>
              <a:t>Java 17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4F2E172-0438-4976-8C7C-417B1D1E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05375"/>
            <a:ext cx="285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4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tech-Spring Boot 3.2.3">
            <a:extLst xmlns:a="http://schemas.openxmlformats.org/drawingml/2006/main">
              <a:ext uri="{FF2B5EF4-FFF2-40B4-BE49-F238E27FC236}">
                <a16:creationId xmlns:a16="http://schemas.microsoft.com/office/drawing/2014/main" id="{4E37460A-F89D-44B3-BB38-01FBB1E1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791075"/>
            <a:ext cx="1562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F5F6">
              <a:alpha val="96000"/>
            </a:srgbClr>
          </a:solidFill>
          <a:ln xmlns:a="http://schemas.openxmlformats.org/drawingml/2006/main" w="9525">
            <a:solidFill>
              <a:srgbClr val="FFFFFF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75C54D5-603B-4588-A8F5-5BEB664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876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6E9"/>
            </a:solidFill>
            <a:prstDash val="solid"/>
          </a:ln>
        </p:spPr>
      </p:sp>
      <p:pic>
        <p:nvPicPr>
          <p:cNvPr id="2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49197a6f74266"/>
          <a:stretch xmlns:a="http://schemas.openxmlformats.org/drawingml/2006/main"/>
        </p:blipFill>
        <p:spPr>
          <a:xfrm xmlns:a="http://schemas.openxmlformats.org/drawingml/2006/main">
            <a:off x="3738563" y="4929188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8AA1CF4-CC10-4D93-BA41-F1E777D8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857750"/>
            <a:ext cx="97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52A31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252A31"/>
                </a:solidFill>
                <a:latin typeface="Arial"/>
                <a:ea typeface="Arial"/>
                <a:cs typeface="Arial"/>
              </a:rPr>
              <a:t>Spring Boot 3.2.3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A4EDECB-CCFA-4E34-BA54-60139D5C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905375"/>
            <a:ext cx="285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7B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tech-Spring Cloud 2023.0">
            <a:extLst xmlns:a="http://schemas.openxmlformats.org/drawingml/2006/main">
              <a:ext uri="{FF2B5EF4-FFF2-40B4-BE49-F238E27FC236}">
                <a16:creationId xmlns:a16="http://schemas.microsoft.com/office/drawing/2014/main" id="{8DE81164-CA37-458F-9A8D-61835638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791075"/>
            <a:ext cx="1562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F5F6">
              <a:alpha val="96000"/>
            </a:srgbClr>
          </a:solidFill>
          <a:ln xmlns:a="http://schemas.openxmlformats.org/drawingml/2006/main" w="9525">
            <a:solidFill>
              <a:srgbClr val="FFFFFF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27E9091-C593-4122-AA1C-A19CC4FA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876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6E9"/>
            </a:solidFill>
            <a:prstDash val="solid"/>
          </a:ln>
        </p:spPr>
      </p:sp>
      <p:pic>
        <p:nvPicPr>
          <p:cNvPr id="2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5ed9a53ae43a8">
            <a:extLst>
              <a:ext uri="{96DAC541-7B7A-43D3-8B79-37D633B846F1}">
                <asvg:svgBlip xmlns:asvg="http://schemas.microsoft.com/office/drawing/2016/SVG/main" r:embed="R22ae8678e09a42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00675" y="49530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1D6CE9E-B947-420A-9A04-575442B7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857750"/>
            <a:ext cx="97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52A31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252A31"/>
                </a:solidFill>
                <a:latin typeface="Arial"/>
                <a:ea typeface="Arial"/>
                <a:cs typeface="Arial"/>
              </a:rPr>
              <a:t>Spring Cloud 2023.0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2B381EE-1F03-4B14-BFA4-5DB6C29B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05375"/>
            <a:ext cx="285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78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tech-MyBatis+ 3.5.5">
            <a:extLst xmlns:a="http://schemas.openxmlformats.org/drawingml/2006/main">
              <a:ext uri="{FF2B5EF4-FFF2-40B4-BE49-F238E27FC236}">
                <a16:creationId xmlns:a16="http://schemas.microsoft.com/office/drawing/2014/main" id="{D4E6B488-EB4E-4C41-9ECE-A630AD39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791075"/>
            <a:ext cx="1562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F5F6">
              <a:alpha val="96000"/>
            </a:srgbClr>
          </a:solidFill>
          <a:ln xmlns:a="http://schemas.openxmlformats.org/drawingml/2006/main" w="9525">
            <a:solidFill>
              <a:srgbClr val="FFFFFF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E9FED38-DEFA-4E44-96E5-F63B6F76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876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6E9"/>
            </a:solidFill>
            <a:prstDash val="solid"/>
          </a:ln>
        </p:spPr>
      </p:sp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8f44054824862"/>
          <a:stretch xmlns:a="http://schemas.openxmlformats.org/drawingml/2006/main"/>
        </p:blipFill>
        <p:spPr>
          <a:xfrm xmlns:a="http://schemas.openxmlformats.org/drawingml/2006/main">
            <a:off x="6934200" y="4997958"/>
            <a:ext cx="400050" cy="100584"/>
          </a:xfrm>
          <a:prstGeom xmlns:a="http://schemas.openxmlformats.org/drawingml/2006/main" prst="rect">
            <a:avLst/>
          </a:prstGeom>
        </p:spPr>
      </p:pic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479ED6C-7911-4E31-B675-A9A89F56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57750"/>
            <a:ext cx="97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52A31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252A31"/>
                </a:solidFill>
                <a:latin typeface="Arial"/>
                <a:ea typeface="Arial"/>
                <a:cs typeface="Arial"/>
              </a:rPr>
              <a:t>MyBatis+ 3.5.5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9D60912-FC3F-4F02-8110-7D8F912D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05375"/>
            <a:ext cx="285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tech-MySQL 8.0">
            <a:extLst xmlns:a="http://schemas.openxmlformats.org/drawingml/2006/main">
              <a:ext uri="{FF2B5EF4-FFF2-40B4-BE49-F238E27FC236}">
                <a16:creationId xmlns:a16="http://schemas.microsoft.com/office/drawing/2014/main" id="{6F35B339-53CA-41E5-AA35-E93C2BB9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791075"/>
            <a:ext cx="1562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F5F6">
              <a:alpha val="96000"/>
            </a:srgbClr>
          </a:solidFill>
          <a:ln xmlns:a="http://schemas.openxmlformats.org/drawingml/2006/main" w="9525">
            <a:solidFill>
              <a:srgbClr val="FFFFFF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112F462-41D6-4B8F-B611-788B5FEB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876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6E9"/>
            </a:solidFill>
            <a:prstDash val="solid"/>
          </a:ln>
        </p:spPr>
      </p:sp>
      <p:pic>
        <p:nvPicPr>
          <p:cNvPr id="2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1e9a99df44ae6"/>
          <a:stretch xmlns:a="http://schemas.openxmlformats.org/drawingml/2006/main"/>
        </p:blipFill>
        <p:spPr>
          <a:xfrm xmlns:a="http://schemas.openxmlformats.org/drawingml/2006/main">
            <a:off x="8653463" y="4929188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764E19F-3207-4844-B38C-C07AD7B3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857750"/>
            <a:ext cx="97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52A31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252A31"/>
                </a:solidFill>
                <a:latin typeface="Arial"/>
                <a:ea typeface="Arial"/>
                <a:cs typeface="Arial"/>
              </a:rPr>
              <a:t>MySQL 8.0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FEE72BD-9607-4F79-A174-0B8DED61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05375"/>
            <a:ext cx="285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tech-Redis 7.2">
            <a:extLst xmlns:a="http://schemas.openxmlformats.org/drawingml/2006/main">
              <a:ext uri="{FF2B5EF4-FFF2-40B4-BE49-F238E27FC236}">
                <a16:creationId xmlns:a16="http://schemas.microsoft.com/office/drawing/2014/main" id="{682D7A6F-E5FB-4227-B802-24753F8A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791075"/>
            <a:ext cx="1562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F5F6">
              <a:alpha val="96000"/>
            </a:srgbClr>
          </a:solidFill>
          <a:ln xmlns:a="http://schemas.openxmlformats.org/drawingml/2006/main" w="9525">
            <a:solidFill>
              <a:srgbClr val="FFFFFF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77D6A0F-9197-44B4-B14E-ACB65595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876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6E9"/>
            </a:solidFill>
            <a:prstDash val="solid"/>
          </a:ln>
        </p:spPr>
      </p:sp>
      <p:pic>
        <p:nvPicPr>
          <p:cNvPr id="2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09f1413414f95"/>
          <a:stretch xmlns:a="http://schemas.openxmlformats.org/drawingml/2006/main"/>
        </p:blipFill>
        <p:spPr>
          <a:xfrm xmlns:a="http://schemas.openxmlformats.org/drawingml/2006/main">
            <a:off x="10291763" y="4929188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C7FDC31-1FB0-4244-9978-EE7B9586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4857750"/>
            <a:ext cx="97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52A31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252A31"/>
                </a:solidFill>
                <a:latin typeface="Arial"/>
                <a:ea typeface="Arial"/>
                <a:cs typeface="Arial"/>
              </a:rPr>
              <a:t>Redis 7.2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1C83046-43FC-4855-B93E-7F1FB286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905375"/>
            <a:ext cx="285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2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tech-RabbitMQ 3.13">
            <a:extLst xmlns:a="http://schemas.openxmlformats.org/drawingml/2006/main">
              <a:ext uri="{FF2B5EF4-FFF2-40B4-BE49-F238E27FC236}">
                <a16:creationId xmlns:a16="http://schemas.microsoft.com/office/drawing/2014/main" id="{D293A5D6-84E8-4DB0-9DC1-502F91D6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00675"/>
            <a:ext cx="1562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F5F6">
              <a:alpha val="96000"/>
            </a:srgbClr>
          </a:solidFill>
          <a:ln xmlns:a="http://schemas.openxmlformats.org/drawingml/2006/main" w="9525">
            <a:solidFill>
              <a:srgbClr val="FFFFFF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979C4EB-C9EE-49DB-974F-68027114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86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6E9"/>
            </a:solidFill>
            <a:prstDash val="solid"/>
          </a:ln>
        </p:spPr>
      </p:sp>
      <p:pic>
        <p:nvPicPr>
          <p:cNvPr id="2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43acebb5304dbe">
            <a:extLst>
              <a:ext uri="{96DAC541-7B7A-43D3-8B79-37D633B846F1}">
                <asvg:svgBlip xmlns:asvg="http://schemas.microsoft.com/office/drawing/2016/SVG/main" r:embed="Rb9feccaed31047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124075" y="55626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520F3C2-431C-43CD-AC74-AC9FDC36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467350"/>
            <a:ext cx="97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52A31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252A31"/>
                </a:solidFill>
                <a:latin typeface="Arial"/>
                <a:ea typeface="Arial"/>
                <a:cs typeface="Arial"/>
              </a:rPr>
              <a:t>RabbitMQ 3.13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C5E0159-E166-4DF5-8C0E-E49EB826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514975"/>
            <a:ext cx="285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tech-Nacos 2.3.2">
            <a:extLst xmlns:a="http://schemas.openxmlformats.org/drawingml/2006/main">
              <a:ext uri="{FF2B5EF4-FFF2-40B4-BE49-F238E27FC236}">
                <a16:creationId xmlns:a16="http://schemas.microsoft.com/office/drawing/2014/main" id="{6E22B8B2-A161-42A5-9108-5D31C5B9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400675"/>
            <a:ext cx="1562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F5F6">
              <a:alpha val="96000"/>
            </a:srgbClr>
          </a:solidFill>
          <a:ln xmlns:a="http://schemas.openxmlformats.org/drawingml/2006/main" w="9525">
            <a:solidFill>
              <a:srgbClr val="FFFFFF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5F01E73-F20F-4EBB-A76A-87EDC9B2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486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6E9"/>
            </a:solidFill>
            <a:prstDash val="solid"/>
          </a:ln>
        </p:spPr>
      </p:sp>
      <p:pic>
        <p:nvPicPr>
          <p:cNvPr id="2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060533966d4312">
            <a:extLst>
              <a:ext uri="{96DAC541-7B7A-43D3-8B79-37D633B846F1}">
                <asvg:svgBlip xmlns:asvg="http://schemas.microsoft.com/office/drawing/2016/SVG/main" r:embed="R5716aa825cba4a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62375" y="55626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CC6F275-7745-432B-90D6-9F520436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467350"/>
            <a:ext cx="97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52A31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252A31"/>
                </a:solidFill>
                <a:latin typeface="Arial"/>
                <a:ea typeface="Arial"/>
                <a:cs typeface="Arial"/>
              </a:rPr>
              <a:t>Nacos 2.3.2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4CA8992-02E1-4518-80EF-E7B066B8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514975"/>
            <a:ext cx="285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7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tech-LangChain4j + DeepSeek">
            <a:extLst xmlns:a="http://schemas.openxmlformats.org/drawingml/2006/main">
              <a:ext uri="{FF2B5EF4-FFF2-40B4-BE49-F238E27FC236}">
                <a16:creationId xmlns:a16="http://schemas.microsoft.com/office/drawing/2014/main" id="{DD07A27A-B906-4185-841A-38EF366E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400675"/>
            <a:ext cx="1562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F5F6">
              <a:alpha val="96000"/>
            </a:srgbClr>
          </a:solidFill>
          <a:ln xmlns:a="http://schemas.openxmlformats.org/drawingml/2006/main" w="9525">
            <a:solidFill>
              <a:srgbClr val="FFFFFF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6117059-5B3D-4DA4-A0D0-CCFF6D7A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486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6E9"/>
            </a:solidFill>
            <a:prstDash val="solid"/>
          </a:ln>
        </p:spPr>
      </p:sp>
      <p:pic>
        <p:nvPicPr>
          <p:cNvPr id="2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d9206ea384dd4">
            <a:extLst>
              <a:ext uri="{96DAC541-7B7A-43D3-8B79-37D633B846F1}">
                <asvg:svgBlip xmlns:asvg="http://schemas.microsoft.com/office/drawing/2016/SVG/main" r:embed="R8f1b6e84c36a4ab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00675" y="55626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6DEC447-58CB-4ADD-8E89-9F19D5BD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467350"/>
            <a:ext cx="97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252A31"/>
                </a:solidFill>
                <a:latin typeface="Arial"/>
                <a:ea typeface="Arial"/>
                <a:cs typeface="Arial"/>
              </a:defRPr>
            </a:pPr>
            <a:r>
              <a:rPr sz="705" b="1">
                <a:solidFill>
                  <a:srgbClr val="252A31"/>
                </a:solidFill>
                <a:latin typeface="Arial"/>
                <a:ea typeface="Arial"/>
                <a:cs typeface="Arial"/>
              </a:rPr>
              <a:t>LangChain4j + DeepSeek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A2E0A8C-D580-4EA8-B966-7038B132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514975"/>
            <a:ext cx="285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4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tech-Vue 3.5">
            <a:extLst xmlns:a="http://schemas.openxmlformats.org/drawingml/2006/main">
              <a:ext uri="{FF2B5EF4-FFF2-40B4-BE49-F238E27FC236}">
                <a16:creationId xmlns:a16="http://schemas.microsoft.com/office/drawing/2014/main" id="{AF65128D-9129-40F7-A4CA-6A8545F2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400675"/>
            <a:ext cx="1562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F5F6">
              <a:alpha val="96000"/>
            </a:srgbClr>
          </a:solidFill>
          <a:ln xmlns:a="http://schemas.openxmlformats.org/drawingml/2006/main" w="9525">
            <a:solidFill>
              <a:srgbClr val="FFFFFF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D42EB37-D55A-40A8-82CC-81507DF7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486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6E9"/>
            </a:solidFill>
            <a:prstDash val="solid"/>
          </a:ln>
        </p:spPr>
      </p:sp>
      <p:pic>
        <p:nvPicPr>
          <p:cNvPr id="2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1d2b7f69b4114"/>
          <a:stretch xmlns:a="http://schemas.openxmlformats.org/drawingml/2006/main"/>
        </p:blipFill>
        <p:spPr>
          <a:xfrm xmlns:a="http://schemas.openxmlformats.org/drawingml/2006/main">
            <a:off x="7015163" y="5538788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A7F5F67-0168-4C4A-8102-2A63B73F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467350"/>
            <a:ext cx="97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52A31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252A31"/>
                </a:solidFill>
                <a:latin typeface="Arial"/>
                <a:ea typeface="Arial"/>
                <a:cs typeface="Arial"/>
              </a:rPr>
              <a:t>Vue 3.5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B30DA6B-BF37-416D-9297-AE17DF51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514975"/>
            <a:ext cx="285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B8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tech-TypeScript 5.9">
            <a:extLst xmlns:a="http://schemas.openxmlformats.org/drawingml/2006/main">
              <a:ext uri="{FF2B5EF4-FFF2-40B4-BE49-F238E27FC236}">
                <a16:creationId xmlns:a16="http://schemas.microsoft.com/office/drawing/2014/main" id="{825973E4-B8B1-4849-B168-4336E324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400675"/>
            <a:ext cx="1562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F5F6">
              <a:alpha val="96000"/>
            </a:srgbClr>
          </a:solidFill>
          <a:ln xmlns:a="http://schemas.openxmlformats.org/drawingml/2006/main" w="9525">
            <a:solidFill>
              <a:srgbClr val="FFFFFF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1140ADF-5622-4F90-9B3C-3366DADA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486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6E9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d552614524bd5"/>
          <a:stretch xmlns:a="http://schemas.openxmlformats.org/drawingml/2006/main"/>
        </p:blipFill>
        <p:spPr>
          <a:xfrm xmlns:a="http://schemas.openxmlformats.org/drawingml/2006/main">
            <a:off x="8653463" y="5538788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0451E3A-849B-4D1B-9C3E-2586F447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467350"/>
            <a:ext cx="97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52A31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252A31"/>
                </a:solidFill>
                <a:latin typeface="Arial"/>
                <a:ea typeface="Arial"/>
                <a:cs typeface="Arial"/>
              </a:rPr>
              <a:t>TypeScript 5.9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93FD0DD-7505-4DDD-9CE8-BF39F252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14975"/>
            <a:ext cx="285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6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tech-Docker Compose">
            <a:extLst xmlns:a="http://schemas.openxmlformats.org/drawingml/2006/main">
              <a:ext uri="{FF2B5EF4-FFF2-40B4-BE49-F238E27FC236}">
                <a16:creationId xmlns:a16="http://schemas.microsoft.com/office/drawing/2014/main" id="{80EE16B1-492A-47AE-A56C-0999B118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400675"/>
            <a:ext cx="1562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F5F6">
              <a:alpha val="96000"/>
            </a:srgbClr>
          </a:solidFill>
          <a:ln xmlns:a="http://schemas.openxmlformats.org/drawingml/2006/main" w="9525">
            <a:solidFill>
              <a:srgbClr val="FFFFFF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D892F6C-A790-4B64-866C-A4F2C4C8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5486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6E9"/>
            </a:solidFill>
            <a:prstDash val="solid"/>
          </a:ln>
        </p:spPr>
      </p:sp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8fe7bd2694af3">
            <a:extLst>
              <a:ext uri="{96DAC541-7B7A-43D3-8B79-37D633B846F1}">
                <asvg:svgBlip xmlns:asvg="http://schemas.microsoft.com/office/drawing/2016/SVG/main" r:embed="R308851d28739491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15575" y="55626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9A2F743-5DAC-4F3D-85D2-A612E25B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5467350"/>
            <a:ext cx="97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52A31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252A31"/>
                </a:solidFill>
                <a:latin typeface="Arial"/>
                <a:ea typeface="Arial"/>
                <a:cs typeface="Arial"/>
              </a:rPr>
              <a:t>Docker Compose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B31D498-8F7D-4495-847F-10D84C9B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5514975"/>
            <a:ext cx="285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6B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81257839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2026-09-13T08:53:35.2790000Z</dcterms:created>
  <dcterms:modified xsi:type="dcterms:W3CDTF">2026-09-13T08:53:35.2790000Z</dcterms:modified>
</coreProperties>
</file>